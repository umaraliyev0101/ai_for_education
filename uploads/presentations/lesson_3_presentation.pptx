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370" y="-2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94576" y="7803970"/>
            <a:ext cx="1614272" cy="30372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-1"/>
            <a:ext cx="5486400" cy="82296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341490" y="2970911"/>
            <a:ext cx="6547484" cy="13963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94576" y="7803970"/>
            <a:ext cx="1614272" cy="30372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953875" y="7734299"/>
            <a:ext cx="2676525" cy="4952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94576" y="7803970"/>
            <a:ext cx="1614272" cy="30372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953875" y="7734299"/>
            <a:ext cx="2676525" cy="4952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94576" y="7803970"/>
            <a:ext cx="1614272" cy="30372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51535" y="1597660"/>
            <a:ext cx="10667365" cy="1397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5617" y="2990850"/>
            <a:ext cx="12999719" cy="3438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6341490" y="2970911"/>
            <a:ext cx="6547484" cy="64934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>
              <a:lnSpc>
                <a:spcPts val="5480"/>
              </a:lnSpc>
              <a:spcBef>
                <a:spcPts val="35"/>
              </a:spcBef>
            </a:pPr>
            <a:r>
              <a:rPr lang="en-US" spc="120" dirty="0" smtClean="0"/>
              <a:t>PITCHDECK</a:t>
            </a:r>
            <a:endParaRPr spc="200" dirty="0"/>
          </a:p>
        </p:txBody>
      </p:sp>
      <p:sp>
        <p:nvSpPr>
          <p:cNvPr id="3" name="object 3"/>
          <p:cNvSpPr txBox="1"/>
          <p:nvPr/>
        </p:nvSpPr>
        <p:spPr>
          <a:xfrm>
            <a:off x="6341490" y="4764722"/>
            <a:ext cx="2194560" cy="426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endParaRPr sz="2600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53875" y="7734299"/>
            <a:ext cx="2676525" cy="4952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144000" y="-1"/>
            <a:ext cx="5486400" cy="8229600"/>
            <a:chOff x="9144000" y="-1"/>
            <a:chExt cx="5486400" cy="8229600"/>
          </a:xfrm>
        </p:grpSpPr>
        <p:pic>
          <p:nvPicPr>
            <p:cNvPr id="3" name="object 3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94576" y="7803970"/>
              <a:ext cx="1614272" cy="30372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44000" y="-1"/>
              <a:ext cx="5486400" cy="82296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51535" y="2976625"/>
            <a:ext cx="526288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US" dirty="0"/>
              <a:t>Brief </a:t>
            </a:r>
            <a:r>
              <a:rPr lang="en-US" dirty="0" smtClean="0"/>
              <a:t>Description</a:t>
            </a:r>
            <a:r>
              <a:rPr lang="en-US" spc="130" dirty="0" smtClean="0"/>
              <a:t> </a:t>
            </a:r>
            <a:endParaRPr spc="-10" dirty="0"/>
          </a:p>
        </p:txBody>
      </p:sp>
      <p:sp>
        <p:nvSpPr>
          <p:cNvPr id="6" name="object 6"/>
          <p:cNvSpPr txBox="1"/>
          <p:nvPr/>
        </p:nvSpPr>
        <p:spPr>
          <a:xfrm>
            <a:off x="851535" y="4040174"/>
            <a:ext cx="7389495" cy="76898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850" dirty="0">
                <a:solidFill>
                  <a:srgbClr val="3C3838"/>
                </a:solidFill>
                <a:latin typeface="Tahoma"/>
                <a:cs typeface="Tahoma"/>
              </a:rPr>
              <a:t>Bu</a:t>
            </a:r>
            <a:r>
              <a:rPr sz="1850" spc="-110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spc="-10" dirty="0">
                <a:solidFill>
                  <a:srgbClr val="3C3838"/>
                </a:solidFill>
                <a:latin typeface="Tahoma"/>
                <a:cs typeface="Tahoma"/>
              </a:rPr>
              <a:t>shunchaki</a:t>
            </a:r>
            <a:r>
              <a:rPr sz="1850" spc="-155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spc="-25" dirty="0">
                <a:solidFill>
                  <a:srgbClr val="3C3838"/>
                </a:solidFill>
                <a:latin typeface="Tahoma"/>
                <a:cs typeface="Tahoma"/>
              </a:rPr>
              <a:t>namuna</a:t>
            </a:r>
            <a:r>
              <a:rPr sz="1850" spc="-105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spc="-10" dirty="0">
                <a:solidFill>
                  <a:srgbClr val="3C3838"/>
                </a:solidFill>
                <a:latin typeface="Tahoma"/>
                <a:cs typeface="Tahoma"/>
              </a:rPr>
              <a:t>tarzida</a:t>
            </a:r>
            <a:r>
              <a:rPr sz="1850" spc="-105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dirty="0">
                <a:solidFill>
                  <a:srgbClr val="3C3838"/>
                </a:solidFill>
                <a:latin typeface="Tahoma"/>
                <a:cs typeface="Tahoma"/>
              </a:rPr>
              <a:t>bo‘lib,</a:t>
            </a:r>
            <a:r>
              <a:rPr sz="1850" spc="-160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dirty="0">
                <a:solidFill>
                  <a:srgbClr val="3C3838"/>
                </a:solidFill>
                <a:latin typeface="Tahoma"/>
                <a:cs typeface="Tahoma"/>
              </a:rPr>
              <a:t>uni</a:t>
            </a:r>
            <a:r>
              <a:rPr sz="1850" spc="-155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dirty="0">
                <a:solidFill>
                  <a:srgbClr val="3C3838"/>
                </a:solidFill>
                <a:latin typeface="Tahoma"/>
                <a:cs typeface="Tahoma"/>
              </a:rPr>
              <a:t>o‘z</a:t>
            </a:r>
            <a:r>
              <a:rPr sz="1850" spc="-105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spc="-10" dirty="0">
                <a:solidFill>
                  <a:srgbClr val="3C3838"/>
                </a:solidFill>
                <a:latin typeface="Tahoma"/>
                <a:cs typeface="Tahoma"/>
              </a:rPr>
              <a:t>startap</a:t>
            </a:r>
            <a:r>
              <a:rPr sz="1850" spc="-130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spc="-20" dirty="0">
                <a:solidFill>
                  <a:srgbClr val="3C3838"/>
                </a:solidFill>
                <a:latin typeface="Tahoma"/>
                <a:cs typeface="Tahoma"/>
              </a:rPr>
              <a:t>loyihangizga</a:t>
            </a:r>
            <a:r>
              <a:rPr sz="1850" spc="-110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spc="-10" dirty="0">
                <a:solidFill>
                  <a:srgbClr val="3C3838"/>
                </a:solidFill>
                <a:latin typeface="Tahoma"/>
                <a:cs typeface="Tahoma"/>
              </a:rPr>
              <a:t>moslab,</a:t>
            </a:r>
            <a:endParaRPr sz="185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1850" dirty="0">
                <a:solidFill>
                  <a:srgbClr val="3C3838"/>
                </a:solidFill>
                <a:latin typeface="Tahoma"/>
                <a:cs typeface="Tahoma"/>
              </a:rPr>
              <a:t>individual</a:t>
            </a:r>
            <a:r>
              <a:rPr sz="1850" spc="-165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dirty="0">
                <a:solidFill>
                  <a:srgbClr val="3C3838"/>
                </a:solidFill>
                <a:latin typeface="Tahoma"/>
                <a:cs typeface="Tahoma"/>
              </a:rPr>
              <a:t>o‘zgartirishlar</a:t>
            </a:r>
            <a:r>
              <a:rPr sz="1850" spc="-105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spc="-35" dirty="0">
                <a:solidFill>
                  <a:srgbClr val="3C3838"/>
                </a:solidFill>
                <a:latin typeface="Tahoma"/>
                <a:cs typeface="Tahoma"/>
              </a:rPr>
              <a:t>va</a:t>
            </a:r>
            <a:r>
              <a:rPr sz="1850" spc="-95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dirty="0">
                <a:solidFill>
                  <a:srgbClr val="3C3838"/>
                </a:solidFill>
                <a:latin typeface="Tahoma"/>
                <a:cs typeface="Tahoma"/>
              </a:rPr>
              <a:t>ko‘rsatkichlar</a:t>
            </a:r>
            <a:r>
              <a:rPr sz="1850" spc="-105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dirty="0">
                <a:solidFill>
                  <a:srgbClr val="3C3838"/>
                </a:solidFill>
                <a:latin typeface="Tahoma"/>
                <a:cs typeface="Tahoma"/>
              </a:rPr>
              <a:t>qo'shishingiz</a:t>
            </a:r>
            <a:r>
              <a:rPr sz="1850" spc="-95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spc="-10" dirty="0">
                <a:solidFill>
                  <a:srgbClr val="3C3838"/>
                </a:solidFill>
                <a:latin typeface="Tahoma"/>
                <a:cs typeface="Tahoma"/>
              </a:rPr>
              <a:t>mumkin.</a:t>
            </a:r>
            <a:endParaRPr sz="185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1534" y="1890013"/>
            <a:ext cx="5854065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pc="100" dirty="0" smtClean="0"/>
              <a:t>Parental Control</a:t>
            </a:r>
            <a:endParaRPr spc="140" dirty="0"/>
          </a:p>
        </p:txBody>
      </p:sp>
      <p:sp>
        <p:nvSpPr>
          <p:cNvPr id="3" name="object 3"/>
          <p:cNvSpPr txBox="1"/>
          <p:nvPr/>
        </p:nvSpPr>
        <p:spPr>
          <a:xfrm>
            <a:off x="851535" y="2972180"/>
            <a:ext cx="4805680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r>
              <a:rPr lang="en-US" sz="3200" b="1" dirty="0"/>
              <a:t>Problem and solution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98550" y="5159057"/>
            <a:ext cx="5241925" cy="85851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2150" b="1" spc="150" dirty="0" smtClean="0">
                <a:solidFill>
                  <a:srgbClr val="3C3838"/>
                </a:solidFill>
                <a:latin typeface="Tahoma"/>
                <a:cs typeface="Tahoma"/>
              </a:rPr>
              <a:t>Problem</a:t>
            </a:r>
            <a:endParaRPr sz="2150" dirty="0" smtClean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725"/>
              </a:spcBef>
            </a:pPr>
            <a:r>
              <a:rPr lang="en-US" sz="1850" dirty="0" smtClean="0">
                <a:latin typeface="Tahoma"/>
                <a:cs typeface="Tahoma"/>
              </a:rPr>
              <a:t>School Students getting addicted to phone usage</a:t>
            </a:r>
            <a:endParaRPr sz="1850" dirty="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6775" y="3943350"/>
            <a:ext cx="12896850" cy="98107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554214" y="5159057"/>
            <a:ext cx="5620385" cy="85851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2150" b="1" spc="85" dirty="0" smtClean="0">
                <a:solidFill>
                  <a:srgbClr val="3C3838"/>
                </a:solidFill>
                <a:latin typeface="Tahoma"/>
                <a:cs typeface="Tahoma"/>
              </a:rPr>
              <a:t>Solution</a:t>
            </a:r>
            <a:endParaRPr sz="215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725"/>
              </a:spcBef>
            </a:pPr>
            <a:r>
              <a:rPr sz="1850" spc="-10" dirty="0">
                <a:solidFill>
                  <a:srgbClr val="3C3838"/>
                </a:solidFill>
                <a:latin typeface="Tahoma"/>
                <a:cs typeface="Tahoma"/>
              </a:rPr>
              <a:t>Mahsulot</a:t>
            </a:r>
            <a:r>
              <a:rPr sz="1850" spc="-195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spc="-10" dirty="0">
                <a:solidFill>
                  <a:srgbClr val="3C3838"/>
                </a:solidFill>
                <a:latin typeface="Tahoma"/>
                <a:cs typeface="Tahoma"/>
              </a:rPr>
              <a:t>bu</a:t>
            </a:r>
            <a:r>
              <a:rPr sz="1850" spc="-125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dirty="0">
                <a:solidFill>
                  <a:srgbClr val="3C3838"/>
                </a:solidFill>
                <a:latin typeface="Tahoma"/>
                <a:cs typeface="Tahoma"/>
              </a:rPr>
              <a:t>muammoni</a:t>
            </a:r>
            <a:r>
              <a:rPr sz="1850" spc="-85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spc="-25" dirty="0">
                <a:solidFill>
                  <a:srgbClr val="3C3838"/>
                </a:solidFill>
                <a:latin typeface="Tahoma"/>
                <a:cs typeface="Tahoma"/>
              </a:rPr>
              <a:t>qanday</a:t>
            </a:r>
            <a:r>
              <a:rPr sz="1850" spc="-130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dirty="0">
                <a:solidFill>
                  <a:srgbClr val="3C3838"/>
                </a:solidFill>
                <a:latin typeface="Tahoma"/>
                <a:cs typeface="Tahoma"/>
              </a:rPr>
              <a:t>hal</a:t>
            </a:r>
            <a:r>
              <a:rPr sz="1850" spc="-185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dirty="0">
                <a:solidFill>
                  <a:srgbClr val="3C3838"/>
                </a:solidFill>
                <a:latin typeface="Tahoma"/>
                <a:cs typeface="Tahoma"/>
              </a:rPr>
              <a:t>qilishini</a:t>
            </a:r>
            <a:r>
              <a:rPr sz="1850" spc="-85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spc="-10" dirty="0">
                <a:solidFill>
                  <a:srgbClr val="3C3838"/>
                </a:solidFill>
                <a:latin typeface="Tahoma"/>
                <a:cs typeface="Tahoma"/>
              </a:rPr>
              <a:t>ko‘rsating.</a:t>
            </a:r>
            <a:endParaRPr sz="185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1535" y="1597660"/>
            <a:ext cx="10667365" cy="914994"/>
          </a:xfrm>
          <a:prstGeom prst="rect">
            <a:avLst/>
          </a:prstGeom>
        </p:spPr>
        <p:txBody>
          <a:bodyPr vert="horz" wrap="square" lIns="0" tIns="235585" rIns="0" bIns="0" rtlCol="0">
            <a:spAutoFit/>
          </a:bodyPr>
          <a:lstStyle/>
          <a:p>
            <a:r>
              <a:rPr lang="en-US" dirty="0"/>
              <a:t>Narrow Market </a:t>
            </a:r>
            <a:r>
              <a:rPr lang="en-US" dirty="0" smtClean="0"/>
              <a:t>Analysis</a:t>
            </a:r>
            <a:endParaRPr lang="en-US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28950" y="3057525"/>
            <a:ext cx="2124075" cy="8477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11676" y="3393440"/>
            <a:ext cx="160655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b="1" spc="-725" dirty="0">
                <a:solidFill>
                  <a:srgbClr val="3C3838"/>
                </a:solidFill>
                <a:latin typeface="Tahoma"/>
                <a:cs typeface="Tahoma"/>
              </a:rPr>
              <a:t>1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91403" y="3288728"/>
            <a:ext cx="4684395" cy="357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2150" b="1" spc="80" dirty="0">
                <a:solidFill>
                  <a:srgbClr val="3C3838"/>
                </a:solidFill>
                <a:latin typeface="Tahoma"/>
                <a:cs typeface="Tahoma"/>
              </a:rPr>
              <a:t>1</a:t>
            </a:r>
            <a:r>
              <a:rPr lang="en-US" sz="2150" b="1" spc="80" dirty="0" smtClean="0">
                <a:solidFill>
                  <a:srgbClr val="3C3838"/>
                </a:solidFill>
                <a:latin typeface="Tahoma"/>
                <a:cs typeface="Tahoma"/>
              </a:rPr>
              <a:t>0K SOM</a:t>
            </a:r>
            <a:endParaRPr sz="2150" dirty="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962150" y="3924300"/>
            <a:ext cx="11744325" cy="885825"/>
            <a:chOff x="1962150" y="3924300"/>
            <a:chExt cx="11744325" cy="885825"/>
          </a:xfrm>
        </p:grpSpPr>
        <p:sp>
          <p:nvSpPr>
            <p:cNvPr id="7" name="object 7"/>
            <p:cNvSpPr/>
            <p:nvPr/>
          </p:nvSpPr>
          <p:spPr>
            <a:xfrm>
              <a:off x="5219700" y="3924300"/>
              <a:ext cx="8486775" cy="9525"/>
            </a:xfrm>
            <a:custGeom>
              <a:avLst/>
              <a:gdLst/>
              <a:ahLst/>
              <a:cxnLst/>
              <a:rect l="l" t="t" r="r" b="b"/>
              <a:pathLst>
                <a:path w="8486775" h="9525">
                  <a:moveTo>
                    <a:pt x="8484616" y="0"/>
                  </a:moveTo>
                  <a:lnTo>
                    <a:pt x="2159" y="0"/>
                  </a:lnTo>
                  <a:lnTo>
                    <a:pt x="0" y="2159"/>
                  </a:lnTo>
                  <a:lnTo>
                    <a:pt x="0" y="4699"/>
                  </a:lnTo>
                  <a:lnTo>
                    <a:pt x="0" y="7365"/>
                  </a:lnTo>
                  <a:lnTo>
                    <a:pt x="2159" y="9525"/>
                  </a:lnTo>
                  <a:lnTo>
                    <a:pt x="8484616" y="9525"/>
                  </a:lnTo>
                  <a:lnTo>
                    <a:pt x="8486775" y="7365"/>
                  </a:lnTo>
                  <a:lnTo>
                    <a:pt x="8486775" y="2159"/>
                  </a:lnTo>
                  <a:lnTo>
                    <a:pt x="8484616" y="0"/>
                  </a:lnTo>
                  <a:close/>
                </a:path>
              </a:pathLst>
            </a:custGeom>
            <a:solidFill>
              <a:srgbClr val="D7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62150" y="3962400"/>
              <a:ext cx="4253866" cy="84772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3978528" y="4211256"/>
            <a:ext cx="227965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spc="-80" dirty="0">
                <a:solidFill>
                  <a:srgbClr val="3C3838"/>
                </a:solidFill>
                <a:latin typeface="Tahoma"/>
                <a:cs typeface="Tahoma"/>
              </a:rPr>
              <a:t>2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56679" y="4195762"/>
            <a:ext cx="4265930" cy="357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2150" b="1" spc="90" dirty="0" smtClean="0">
                <a:solidFill>
                  <a:srgbClr val="3C3838"/>
                </a:solidFill>
                <a:latin typeface="Tahoma"/>
                <a:cs typeface="Tahoma"/>
              </a:rPr>
              <a:t>300K </a:t>
            </a:r>
            <a:r>
              <a:rPr lang="en-US" sz="2150" b="1" spc="90" dirty="0" smtClean="0">
                <a:solidFill>
                  <a:srgbClr val="3C3838"/>
                </a:solidFill>
                <a:latin typeface="Tahoma"/>
                <a:cs typeface="Tahoma"/>
              </a:rPr>
              <a:t>SAM</a:t>
            </a:r>
            <a:endParaRPr sz="2150" dirty="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95350" y="4829175"/>
            <a:ext cx="12811125" cy="885825"/>
            <a:chOff x="895350" y="4829175"/>
            <a:chExt cx="12811125" cy="885825"/>
          </a:xfrm>
        </p:grpSpPr>
        <p:sp>
          <p:nvSpPr>
            <p:cNvPr id="12" name="object 12"/>
            <p:cNvSpPr/>
            <p:nvPr/>
          </p:nvSpPr>
          <p:spPr>
            <a:xfrm>
              <a:off x="6276975" y="4829175"/>
              <a:ext cx="7429500" cy="9525"/>
            </a:xfrm>
            <a:custGeom>
              <a:avLst/>
              <a:gdLst/>
              <a:ahLst/>
              <a:cxnLst/>
              <a:rect l="l" t="t" r="r" b="b"/>
              <a:pathLst>
                <a:path w="7429500" h="9525">
                  <a:moveTo>
                    <a:pt x="7427340" y="0"/>
                  </a:moveTo>
                  <a:lnTo>
                    <a:pt x="2159" y="0"/>
                  </a:lnTo>
                  <a:lnTo>
                    <a:pt x="0" y="2159"/>
                  </a:lnTo>
                  <a:lnTo>
                    <a:pt x="0" y="4699"/>
                  </a:lnTo>
                  <a:lnTo>
                    <a:pt x="0" y="7365"/>
                  </a:lnTo>
                  <a:lnTo>
                    <a:pt x="2159" y="9525"/>
                  </a:lnTo>
                  <a:lnTo>
                    <a:pt x="7427340" y="9525"/>
                  </a:lnTo>
                  <a:lnTo>
                    <a:pt x="7429500" y="7365"/>
                  </a:lnTo>
                  <a:lnTo>
                    <a:pt x="7429500" y="2159"/>
                  </a:lnTo>
                  <a:lnTo>
                    <a:pt x="7427340" y="0"/>
                  </a:lnTo>
                  <a:close/>
                </a:path>
              </a:pathLst>
            </a:custGeom>
            <a:solidFill>
              <a:srgbClr val="D7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5350" y="4876800"/>
              <a:ext cx="6391275" cy="83820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3977640" y="5118417"/>
            <a:ext cx="22860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spc="-75" dirty="0">
                <a:solidFill>
                  <a:srgbClr val="3C3838"/>
                </a:solidFill>
                <a:latin typeface="Tahoma"/>
                <a:cs typeface="Tahoma"/>
              </a:rPr>
              <a:t>3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521829" y="5102542"/>
            <a:ext cx="4136771" cy="3468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2150" b="1" spc="140" dirty="0">
                <a:solidFill>
                  <a:srgbClr val="3C3838"/>
                </a:solidFill>
                <a:latin typeface="Tahoma"/>
                <a:cs typeface="Tahoma"/>
              </a:rPr>
              <a:t>2</a:t>
            </a:r>
            <a:r>
              <a:rPr lang="en-US" sz="2150" b="1" spc="140" dirty="0" smtClean="0">
                <a:solidFill>
                  <a:srgbClr val="3C3838"/>
                </a:solidFill>
                <a:latin typeface="Tahoma"/>
                <a:cs typeface="Tahoma"/>
              </a:rPr>
              <a:t>M TAM</a:t>
            </a:r>
            <a:endParaRPr sz="2150" dirty="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51535" y="6026467"/>
            <a:ext cx="4178935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-35" dirty="0">
                <a:solidFill>
                  <a:srgbClr val="3C3838"/>
                </a:solidFill>
                <a:latin typeface="Tahoma"/>
                <a:cs typeface="Tahoma"/>
              </a:rPr>
              <a:t>Bozor:</a:t>
            </a:r>
            <a:r>
              <a:rPr sz="1850" spc="-160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dirty="0">
                <a:solidFill>
                  <a:srgbClr val="3C3838"/>
                </a:solidFill>
                <a:latin typeface="Tahoma"/>
                <a:cs typeface="Tahoma"/>
              </a:rPr>
              <a:t>maqsadli</a:t>
            </a:r>
            <a:r>
              <a:rPr sz="1850" spc="-155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dirty="0">
                <a:solidFill>
                  <a:srgbClr val="3C3838"/>
                </a:solidFill>
                <a:latin typeface="Tahoma"/>
                <a:cs typeface="Tahoma"/>
              </a:rPr>
              <a:t>auditoriya</a:t>
            </a:r>
            <a:r>
              <a:rPr sz="1850" spc="-110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spc="-10" dirty="0">
                <a:solidFill>
                  <a:srgbClr val="3C3838"/>
                </a:solidFill>
                <a:latin typeface="Tahoma"/>
                <a:cs typeface="Tahoma"/>
              </a:rPr>
              <a:t>diagrammasi.</a:t>
            </a:r>
            <a:endParaRPr sz="185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0600" y="1295400"/>
            <a:ext cx="10667365" cy="1181990"/>
          </a:xfrm>
          <a:prstGeom prst="rect">
            <a:avLst/>
          </a:prstGeom>
        </p:spPr>
        <p:txBody>
          <a:bodyPr vert="horz" wrap="square" lIns="0" tIns="499999" rIns="0" bIns="0" rtlCol="0">
            <a:spAutoFit/>
          </a:bodyPr>
          <a:lstStyle/>
          <a:p>
            <a:r>
              <a:rPr lang="en-US" dirty="0"/>
              <a:t>Primary users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600" y="2965513"/>
            <a:ext cx="12116435" cy="7804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2000"/>
              </a:lnSpc>
              <a:spcBef>
                <a:spcPts val="95"/>
              </a:spcBef>
            </a:pPr>
            <a:r>
              <a:rPr lang="en-US" sz="2000" dirty="0" smtClean="0"/>
              <a:t>Our primary users </a:t>
            </a:r>
            <a:r>
              <a:rPr lang="en-US" sz="2000" b="1" dirty="0" smtClean="0"/>
              <a:t>are parents of primary school children </a:t>
            </a:r>
            <a:r>
              <a:rPr lang="en-US" sz="2000" dirty="0" smtClean="0"/>
              <a:t>seeking to guide safe and balanced digital habits for their kids.</a:t>
            </a:r>
            <a:endParaRPr sz="185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0600" y="4270311"/>
            <a:ext cx="2673985" cy="357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b="1" dirty="0">
                <a:latin typeface="Tahoma"/>
                <a:cs typeface="Tahoma"/>
              </a:rPr>
              <a:t>Mijoz</a:t>
            </a:r>
            <a:r>
              <a:rPr sz="2150" b="1" spc="215" dirty="0">
                <a:latin typeface="Tahoma"/>
                <a:cs typeface="Tahoma"/>
              </a:rPr>
              <a:t> </a:t>
            </a:r>
            <a:r>
              <a:rPr sz="2150" b="1" spc="75" dirty="0">
                <a:latin typeface="Tahoma"/>
                <a:cs typeface="Tahoma"/>
              </a:rPr>
              <a:t>Segmentlari</a:t>
            </a:r>
            <a:endParaRPr sz="215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0600" y="4916550"/>
            <a:ext cx="5320665" cy="188833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5"/>
              </a:spcBef>
              <a:buChar char="•"/>
              <a:tabLst>
                <a:tab pos="355600" algn="l"/>
              </a:tabLst>
            </a:pPr>
            <a:r>
              <a:rPr lang="en-US" sz="2000" b="1" dirty="0" smtClean="0"/>
              <a:t>Tech-aware families </a:t>
            </a:r>
            <a:r>
              <a:rPr lang="en-US" sz="2000" dirty="0" smtClean="0"/>
              <a:t>who want to encourage healthy device use.</a:t>
            </a:r>
          </a:p>
          <a:p>
            <a:pPr marL="355600" indent="-342900">
              <a:lnSpc>
                <a:spcPct val="100000"/>
              </a:lnSpc>
              <a:spcBef>
                <a:spcPts val="125"/>
              </a:spcBef>
              <a:buChar char="•"/>
              <a:tabLst>
                <a:tab pos="355600" algn="l"/>
              </a:tabLst>
            </a:pPr>
            <a:endParaRPr lang="en-US" sz="2000" dirty="0" smtClean="0"/>
          </a:p>
          <a:p>
            <a:pPr marL="355600" indent="-342900">
              <a:lnSpc>
                <a:spcPct val="100000"/>
              </a:lnSpc>
              <a:spcBef>
                <a:spcPts val="125"/>
              </a:spcBef>
              <a:buChar char="•"/>
              <a:tabLst>
                <a:tab pos="355600" algn="l"/>
              </a:tabLst>
            </a:pPr>
            <a:r>
              <a:rPr lang="en-US" sz="2000" b="1" dirty="0" smtClean="0"/>
              <a:t>Schools</a:t>
            </a:r>
            <a:r>
              <a:rPr lang="en-US" sz="2000" dirty="0" smtClean="0"/>
              <a:t> promoting digital responsibility programs and offering your app as part of parent–teacher collaboration.</a:t>
            </a:r>
            <a:endParaRPr sz="185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55255" y="4270311"/>
            <a:ext cx="3552190" cy="357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b="1" spc="95" dirty="0">
                <a:latin typeface="Tahoma"/>
                <a:cs typeface="Tahoma"/>
              </a:rPr>
              <a:t>Qo'shimcha</a:t>
            </a:r>
            <a:r>
              <a:rPr sz="2150" b="1" spc="10" dirty="0">
                <a:latin typeface="Tahoma"/>
                <a:cs typeface="Tahoma"/>
              </a:rPr>
              <a:t> </a:t>
            </a:r>
            <a:r>
              <a:rPr sz="2150" b="1" spc="85" dirty="0">
                <a:latin typeface="Tahoma"/>
                <a:cs typeface="Tahoma"/>
              </a:rPr>
              <a:t>Segmentlar</a:t>
            </a:r>
            <a:endParaRPr sz="215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55255" y="4916550"/>
            <a:ext cx="4423410" cy="219611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25"/>
              </a:spcBef>
              <a:buChar char="•"/>
              <a:tabLst>
                <a:tab pos="354965" algn="l"/>
              </a:tabLst>
            </a:pPr>
            <a:r>
              <a:rPr lang="en-US" sz="2000" b="1" dirty="0" smtClean="0"/>
              <a:t>Agencies</a:t>
            </a:r>
            <a:r>
              <a:rPr lang="en-US" sz="2000" dirty="0" smtClean="0"/>
              <a:t> focusing on child safety, digital literacy, or education reform initiatives.</a:t>
            </a:r>
          </a:p>
          <a:p>
            <a:pPr marL="354965" indent="-342265">
              <a:lnSpc>
                <a:spcPct val="100000"/>
              </a:lnSpc>
              <a:spcBef>
                <a:spcPts val="125"/>
              </a:spcBef>
              <a:buChar char="•"/>
              <a:tabLst>
                <a:tab pos="354965" algn="l"/>
              </a:tabLst>
            </a:pPr>
            <a:endParaRPr lang="en-US" sz="2000" dirty="0" smtClean="0"/>
          </a:p>
          <a:p>
            <a:pPr marL="354965" indent="-342265">
              <a:lnSpc>
                <a:spcPct val="100000"/>
              </a:lnSpc>
              <a:spcBef>
                <a:spcPts val="125"/>
              </a:spcBef>
              <a:buChar char="•"/>
              <a:tabLst>
                <a:tab pos="354965" algn="l"/>
              </a:tabLst>
            </a:pPr>
            <a:r>
              <a:rPr lang="en-US" sz="2000" b="1" dirty="0" smtClean="0"/>
              <a:t>Local internet providers </a:t>
            </a:r>
            <a:r>
              <a:rPr lang="en-US" sz="2000" dirty="0" smtClean="0"/>
              <a:t>or device retailers who can bundle the app as a value-added service.</a:t>
            </a:r>
            <a:endParaRPr lang="en-US" sz="2000" dirty="0">
              <a:solidFill>
                <a:srgbClr val="3C3838"/>
              </a:solidFill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1535" y="1749805"/>
            <a:ext cx="7319009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r>
              <a:rPr lang="en-US" dirty="0"/>
              <a:t>Competitive </a:t>
            </a:r>
            <a:r>
              <a:rPr lang="en-US" dirty="0" smtClean="0"/>
              <a:t>Advantages</a:t>
            </a:r>
            <a:endParaRPr lang="en-US" dirty="0"/>
          </a:p>
        </p:txBody>
      </p:sp>
      <p:grpSp>
        <p:nvGrpSpPr>
          <p:cNvPr id="3" name="object 3"/>
          <p:cNvGrpSpPr/>
          <p:nvPr/>
        </p:nvGrpSpPr>
        <p:grpSpPr>
          <a:xfrm>
            <a:off x="876300" y="3686175"/>
            <a:ext cx="12877800" cy="685800"/>
            <a:chOff x="876300" y="3686175"/>
            <a:chExt cx="12877800" cy="685800"/>
          </a:xfrm>
        </p:grpSpPr>
        <p:sp>
          <p:nvSpPr>
            <p:cNvPr id="4" name="object 4"/>
            <p:cNvSpPr/>
            <p:nvPr/>
          </p:nvSpPr>
          <p:spPr>
            <a:xfrm>
              <a:off x="876300" y="3686175"/>
              <a:ext cx="12877800" cy="685800"/>
            </a:xfrm>
            <a:custGeom>
              <a:avLst/>
              <a:gdLst/>
              <a:ahLst/>
              <a:cxnLst/>
              <a:rect l="l" t="t" r="r" b="b"/>
              <a:pathLst>
                <a:path w="12877800" h="685800">
                  <a:moveTo>
                    <a:pt x="12877800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12877800" y="685800"/>
                  </a:lnTo>
                  <a:lnTo>
                    <a:pt x="12877800" y="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52825" y="3809936"/>
              <a:ext cx="623887" cy="50958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34100" y="3809936"/>
              <a:ext cx="623887" cy="50958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05850" y="3809936"/>
              <a:ext cx="623887" cy="50958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277600" y="3809936"/>
              <a:ext cx="623887" cy="509587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732429" y="4599472"/>
            <a:ext cx="274132" cy="22652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304251" y="4674979"/>
            <a:ext cx="274132" cy="7550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876000" y="4599472"/>
            <a:ext cx="274132" cy="22652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447750" y="4674979"/>
            <a:ext cx="274132" cy="75507"/>
          </a:xfrm>
          <a:prstGeom prst="rect">
            <a:avLst/>
          </a:prstGeom>
        </p:spPr>
      </p:pic>
      <p:graphicFrame>
        <p:nvGraphicFramePr>
          <p:cNvPr id="13" name="object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2566999"/>
              </p:ext>
            </p:extLst>
          </p:nvPr>
        </p:nvGraphicFramePr>
        <p:xfrm>
          <a:off x="853717" y="2990850"/>
          <a:ext cx="12896850" cy="3438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9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pPr marL="2839720">
                        <a:lnSpc>
                          <a:spcPct val="100000"/>
                        </a:lnSpc>
                        <a:spcBef>
                          <a:spcPts val="1720"/>
                        </a:spcBef>
                        <a:tabLst>
                          <a:tab pos="5415915" algn="l"/>
                          <a:tab pos="7991475" algn="l"/>
                          <a:tab pos="10567670" algn="l"/>
                        </a:tabLst>
                      </a:pPr>
                      <a:r>
                        <a:rPr lang="en-US" sz="2000" dirty="0" smtClean="0"/>
                        <a:t>Your Product</a:t>
                      </a:r>
                      <a:r>
                        <a:rPr sz="1850" dirty="0" smtClean="0">
                          <a:solidFill>
                            <a:srgbClr val="3C3838"/>
                          </a:solidFill>
                          <a:latin typeface="Tahoma"/>
                          <a:cs typeface="Tahoma"/>
                        </a:rPr>
                        <a:t>	</a:t>
                      </a:r>
                      <a:r>
                        <a:rPr lang="en-US" sz="1850" spc="-10" dirty="0" smtClean="0">
                          <a:solidFill>
                            <a:srgbClr val="3C3838"/>
                          </a:solidFill>
                          <a:latin typeface="Tahoma"/>
                          <a:cs typeface="Tahoma"/>
                        </a:rPr>
                        <a:t>Competitor</a:t>
                      </a:r>
                      <a:r>
                        <a:rPr sz="1850" dirty="0" smtClean="0">
                          <a:solidFill>
                            <a:srgbClr val="3C3838"/>
                          </a:solidFill>
                          <a:latin typeface="Tahoma"/>
                          <a:cs typeface="Tahoma"/>
                        </a:rPr>
                        <a:t>	</a:t>
                      </a:r>
                      <a:r>
                        <a:rPr lang="en-US" sz="1850" spc="-10" dirty="0" smtClean="0">
                          <a:solidFill>
                            <a:srgbClr val="3C3838"/>
                          </a:solidFill>
                          <a:latin typeface="Tahoma"/>
                          <a:cs typeface="Tahoma"/>
                        </a:rPr>
                        <a:t>Competitor</a:t>
                      </a:r>
                      <a:r>
                        <a:rPr sz="1850" dirty="0" smtClean="0">
                          <a:solidFill>
                            <a:srgbClr val="3C3838"/>
                          </a:solidFill>
                          <a:latin typeface="Tahoma"/>
                          <a:cs typeface="Tahoma"/>
                        </a:rPr>
                        <a:t>	</a:t>
                      </a:r>
                      <a:r>
                        <a:rPr lang="en-US" sz="1850" spc="-10" dirty="0" smtClean="0">
                          <a:solidFill>
                            <a:srgbClr val="3C3838"/>
                          </a:solidFill>
                          <a:latin typeface="Tahoma"/>
                          <a:cs typeface="Tahoma"/>
                        </a:rPr>
                        <a:t>Competitor</a:t>
                      </a:r>
                      <a:endParaRPr sz="1850" dirty="0">
                        <a:latin typeface="Tahoma"/>
                        <a:cs typeface="Tahoma"/>
                      </a:endParaRPr>
                    </a:p>
                  </a:txBody>
                  <a:tcPr marL="0" marR="0" marT="2184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260350">
                        <a:lnSpc>
                          <a:spcPct val="100000"/>
                        </a:lnSpc>
                        <a:spcBef>
                          <a:spcPts val="1620"/>
                        </a:spcBef>
                      </a:pPr>
                      <a:r>
                        <a:rPr lang="en-US" sz="2000" dirty="0" smtClean="0"/>
                        <a:t>Feature</a:t>
                      </a:r>
                      <a:r>
                        <a:rPr sz="1850" spc="-130" dirty="0" smtClean="0">
                          <a:solidFill>
                            <a:srgbClr val="3C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850" spc="-50" dirty="0">
                          <a:solidFill>
                            <a:srgbClr val="3C3838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850" dirty="0">
                        <a:latin typeface="Tahoma"/>
                        <a:cs typeface="Tahoma"/>
                      </a:endParaRPr>
                    </a:p>
                  </a:txBody>
                  <a:tcPr marL="0" marR="0" marT="2057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pPr marL="260350">
                        <a:lnSpc>
                          <a:spcPct val="100000"/>
                        </a:lnSpc>
                        <a:spcBef>
                          <a:spcPts val="1590"/>
                        </a:spcBef>
                      </a:pPr>
                      <a:r>
                        <a:rPr lang="en-US" sz="2000" dirty="0" smtClean="0"/>
                        <a:t>Feature</a:t>
                      </a:r>
                      <a:r>
                        <a:rPr sz="1850" spc="-135" dirty="0" smtClean="0">
                          <a:solidFill>
                            <a:srgbClr val="3C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850" spc="-50" dirty="0">
                          <a:solidFill>
                            <a:srgbClr val="3C3838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1850" dirty="0">
                        <a:latin typeface="Tahoma"/>
                        <a:cs typeface="Tahoma"/>
                      </a:endParaRPr>
                    </a:p>
                  </a:txBody>
                  <a:tcPr marL="0" marR="0" marT="2019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260350">
                        <a:lnSpc>
                          <a:spcPct val="100000"/>
                        </a:lnSpc>
                        <a:spcBef>
                          <a:spcPts val="1635"/>
                        </a:spcBef>
                      </a:pPr>
                      <a:r>
                        <a:rPr lang="en-US" sz="2000" dirty="0" smtClean="0"/>
                        <a:t>Feature</a:t>
                      </a:r>
                      <a:r>
                        <a:rPr sz="1850" spc="-160" dirty="0" smtClean="0">
                          <a:solidFill>
                            <a:srgbClr val="3C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850" spc="-50" dirty="0">
                          <a:solidFill>
                            <a:srgbClr val="3C3838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1850" dirty="0">
                        <a:latin typeface="Tahoma"/>
                        <a:cs typeface="Tahoma"/>
                      </a:endParaRPr>
                    </a:p>
                  </a:txBody>
                  <a:tcPr marL="0" marR="0" marT="2076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>
                        <a:alpha val="392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marL="260350">
                        <a:lnSpc>
                          <a:spcPct val="100000"/>
                        </a:lnSpc>
                        <a:spcBef>
                          <a:spcPts val="1605"/>
                        </a:spcBef>
                      </a:pPr>
                      <a:r>
                        <a:rPr lang="en-US" sz="2000" dirty="0" smtClean="0"/>
                        <a:t>Feature</a:t>
                      </a:r>
                      <a:r>
                        <a:rPr sz="1850" spc="-135" dirty="0" smtClean="0">
                          <a:solidFill>
                            <a:srgbClr val="3C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850" spc="-50" dirty="0">
                          <a:solidFill>
                            <a:srgbClr val="3C3838"/>
                          </a:solidFill>
                          <a:latin typeface="Tahoma"/>
                          <a:cs typeface="Tahoma"/>
                        </a:rPr>
                        <a:t>4</a:t>
                      </a:r>
                      <a:endParaRPr sz="1850" dirty="0">
                        <a:latin typeface="Tahoma"/>
                        <a:cs typeface="Tahoma"/>
                      </a:endParaRPr>
                    </a:p>
                  </a:txBody>
                  <a:tcPr marL="0" marR="0" marT="2038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52825" y="5172011"/>
            <a:ext cx="623887" cy="50958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134100" y="5172011"/>
            <a:ext cx="623887" cy="509587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05850" y="5172011"/>
            <a:ext cx="623887" cy="509587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277600" y="5172011"/>
            <a:ext cx="623887" cy="509587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732429" y="5961547"/>
            <a:ext cx="274132" cy="226521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304251" y="5961547"/>
            <a:ext cx="274132" cy="226521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876000" y="5961547"/>
            <a:ext cx="274132" cy="226521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457203" y="5961547"/>
            <a:ext cx="264679" cy="2265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1535" y="1597660"/>
            <a:ext cx="10667365" cy="962827"/>
          </a:xfrm>
          <a:prstGeom prst="rect">
            <a:avLst/>
          </a:prstGeom>
        </p:spPr>
        <p:txBody>
          <a:bodyPr vert="horz" wrap="square" lIns="0" tIns="282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pc="75" dirty="0" smtClean="0"/>
              <a:t>Business Model and Monetization</a:t>
            </a:r>
            <a:endParaRPr spc="75" dirty="0"/>
          </a:p>
        </p:txBody>
      </p:sp>
      <p:grpSp>
        <p:nvGrpSpPr>
          <p:cNvPr id="3" name="object 3"/>
          <p:cNvGrpSpPr/>
          <p:nvPr/>
        </p:nvGrpSpPr>
        <p:grpSpPr>
          <a:xfrm>
            <a:off x="828675" y="3094735"/>
            <a:ext cx="6383020" cy="935355"/>
            <a:chOff x="828675" y="3094735"/>
            <a:chExt cx="6383020" cy="935355"/>
          </a:xfrm>
        </p:grpSpPr>
        <p:sp>
          <p:nvSpPr>
            <p:cNvPr id="4" name="object 4"/>
            <p:cNvSpPr/>
            <p:nvPr/>
          </p:nvSpPr>
          <p:spPr>
            <a:xfrm>
              <a:off x="871537" y="3109975"/>
              <a:ext cx="6325235" cy="904875"/>
            </a:xfrm>
            <a:custGeom>
              <a:avLst/>
              <a:gdLst/>
              <a:ahLst/>
              <a:cxnLst/>
              <a:rect l="l" t="t" r="r" b="b"/>
              <a:pathLst>
                <a:path w="6325234" h="904875">
                  <a:moveTo>
                    <a:pt x="0" y="146176"/>
                  </a:moveTo>
                  <a:lnTo>
                    <a:pt x="7456" y="99958"/>
                  </a:lnTo>
                  <a:lnTo>
                    <a:pt x="28217" y="59829"/>
                  </a:lnTo>
                  <a:lnTo>
                    <a:pt x="59875" y="28191"/>
                  </a:lnTo>
                  <a:lnTo>
                    <a:pt x="100019" y="7448"/>
                  </a:lnTo>
                  <a:lnTo>
                    <a:pt x="146240" y="0"/>
                  </a:lnTo>
                  <a:lnTo>
                    <a:pt x="6178359" y="0"/>
                  </a:lnTo>
                  <a:lnTo>
                    <a:pt x="6224591" y="7448"/>
                  </a:lnTo>
                  <a:lnTo>
                    <a:pt x="6264752" y="28191"/>
                  </a:lnTo>
                  <a:lnTo>
                    <a:pt x="6296426" y="59829"/>
                  </a:lnTo>
                  <a:lnTo>
                    <a:pt x="6317201" y="99958"/>
                  </a:lnTo>
                  <a:lnTo>
                    <a:pt x="6324663" y="146176"/>
                  </a:lnTo>
                  <a:lnTo>
                    <a:pt x="6324663" y="758571"/>
                  </a:lnTo>
                  <a:lnTo>
                    <a:pt x="6317201" y="804803"/>
                  </a:lnTo>
                  <a:lnTo>
                    <a:pt x="6296426" y="844963"/>
                  </a:lnTo>
                  <a:lnTo>
                    <a:pt x="6264752" y="876638"/>
                  </a:lnTo>
                  <a:lnTo>
                    <a:pt x="6224591" y="897413"/>
                  </a:lnTo>
                  <a:lnTo>
                    <a:pt x="6178359" y="904875"/>
                  </a:lnTo>
                  <a:lnTo>
                    <a:pt x="146240" y="904875"/>
                  </a:lnTo>
                  <a:lnTo>
                    <a:pt x="100019" y="897413"/>
                  </a:lnTo>
                  <a:lnTo>
                    <a:pt x="59875" y="876638"/>
                  </a:lnTo>
                  <a:lnTo>
                    <a:pt x="28217" y="844963"/>
                  </a:lnTo>
                  <a:lnTo>
                    <a:pt x="7456" y="804803"/>
                  </a:lnTo>
                  <a:lnTo>
                    <a:pt x="0" y="758571"/>
                  </a:lnTo>
                  <a:lnTo>
                    <a:pt x="0" y="146176"/>
                  </a:lnTo>
                  <a:close/>
                </a:path>
              </a:pathLst>
            </a:custGeom>
            <a:ln w="30480">
              <a:solidFill>
                <a:srgbClr val="D7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28675" y="3105149"/>
              <a:ext cx="123825" cy="904875"/>
            </a:xfrm>
            <a:custGeom>
              <a:avLst/>
              <a:gdLst/>
              <a:ahLst/>
              <a:cxnLst/>
              <a:rect l="l" t="t" r="r" b="b"/>
              <a:pathLst>
                <a:path w="123825" h="904875">
                  <a:moveTo>
                    <a:pt x="86220" y="0"/>
                  </a:moveTo>
                  <a:lnTo>
                    <a:pt x="37604" y="0"/>
                  </a:lnTo>
                  <a:lnTo>
                    <a:pt x="22968" y="2962"/>
                  </a:lnTo>
                  <a:lnTo>
                    <a:pt x="11015" y="11033"/>
                  </a:lnTo>
                  <a:lnTo>
                    <a:pt x="2955" y="22985"/>
                  </a:lnTo>
                  <a:lnTo>
                    <a:pt x="0" y="37591"/>
                  </a:lnTo>
                  <a:lnTo>
                    <a:pt x="0" y="867283"/>
                  </a:lnTo>
                  <a:lnTo>
                    <a:pt x="2955" y="881889"/>
                  </a:lnTo>
                  <a:lnTo>
                    <a:pt x="11015" y="893841"/>
                  </a:lnTo>
                  <a:lnTo>
                    <a:pt x="22968" y="901912"/>
                  </a:lnTo>
                  <a:lnTo>
                    <a:pt x="37604" y="904875"/>
                  </a:lnTo>
                  <a:lnTo>
                    <a:pt x="86220" y="904875"/>
                  </a:lnTo>
                  <a:lnTo>
                    <a:pt x="100856" y="901912"/>
                  </a:lnTo>
                  <a:lnTo>
                    <a:pt x="112809" y="893841"/>
                  </a:lnTo>
                  <a:lnTo>
                    <a:pt x="120869" y="881889"/>
                  </a:lnTo>
                  <a:lnTo>
                    <a:pt x="123825" y="867283"/>
                  </a:lnTo>
                  <a:lnTo>
                    <a:pt x="123825" y="37591"/>
                  </a:lnTo>
                  <a:lnTo>
                    <a:pt x="120869" y="22985"/>
                  </a:lnTo>
                  <a:lnTo>
                    <a:pt x="112809" y="11033"/>
                  </a:lnTo>
                  <a:lnTo>
                    <a:pt x="100856" y="2962"/>
                  </a:lnTo>
                  <a:lnTo>
                    <a:pt x="86220" y="0"/>
                  </a:lnTo>
                  <a:close/>
                </a:path>
              </a:pathLst>
            </a:custGeom>
            <a:solidFill>
              <a:srgbClr val="2C2D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220786" y="3366452"/>
            <a:ext cx="3503613" cy="38536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2400" b="1" dirty="0" smtClean="0"/>
              <a:t>Customer Segments </a:t>
            </a:r>
            <a:endParaRPr sz="2150" b="1" dirty="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410450" y="3094735"/>
            <a:ext cx="6373495" cy="935355"/>
            <a:chOff x="7410450" y="3094735"/>
            <a:chExt cx="6373495" cy="935355"/>
          </a:xfrm>
        </p:grpSpPr>
        <p:sp>
          <p:nvSpPr>
            <p:cNvPr id="8" name="object 8"/>
            <p:cNvSpPr/>
            <p:nvPr/>
          </p:nvSpPr>
          <p:spPr>
            <a:xfrm>
              <a:off x="7443851" y="3109975"/>
              <a:ext cx="6324600" cy="904875"/>
            </a:xfrm>
            <a:custGeom>
              <a:avLst/>
              <a:gdLst/>
              <a:ahLst/>
              <a:cxnLst/>
              <a:rect l="l" t="t" r="r" b="b"/>
              <a:pathLst>
                <a:path w="6324600" h="904875">
                  <a:moveTo>
                    <a:pt x="0" y="146176"/>
                  </a:moveTo>
                  <a:lnTo>
                    <a:pt x="7448" y="99958"/>
                  </a:lnTo>
                  <a:lnTo>
                    <a:pt x="28191" y="59829"/>
                  </a:lnTo>
                  <a:lnTo>
                    <a:pt x="59829" y="28191"/>
                  </a:lnTo>
                  <a:lnTo>
                    <a:pt x="99958" y="7448"/>
                  </a:lnTo>
                  <a:lnTo>
                    <a:pt x="146176" y="0"/>
                  </a:lnTo>
                  <a:lnTo>
                    <a:pt x="6178295" y="0"/>
                  </a:lnTo>
                  <a:lnTo>
                    <a:pt x="6224528" y="7448"/>
                  </a:lnTo>
                  <a:lnTo>
                    <a:pt x="6264688" y="28191"/>
                  </a:lnTo>
                  <a:lnTo>
                    <a:pt x="6296363" y="59829"/>
                  </a:lnTo>
                  <a:lnTo>
                    <a:pt x="6317138" y="99958"/>
                  </a:lnTo>
                  <a:lnTo>
                    <a:pt x="6324600" y="146176"/>
                  </a:lnTo>
                  <a:lnTo>
                    <a:pt x="6324600" y="758571"/>
                  </a:lnTo>
                  <a:lnTo>
                    <a:pt x="6317138" y="804803"/>
                  </a:lnTo>
                  <a:lnTo>
                    <a:pt x="6296363" y="844963"/>
                  </a:lnTo>
                  <a:lnTo>
                    <a:pt x="6264688" y="876638"/>
                  </a:lnTo>
                  <a:lnTo>
                    <a:pt x="6224528" y="897413"/>
                  </a:lnTo>
                  <a:lnTo>
                    <a:pt x="6178295" y="904875"/>
                  </a:lnTo>
                  <a:lnTo>
                    <a:pt x="146176" y="904875"/>
                  </a:lnTo>
                  <a:lnTo>
                    <a:pt x="99958" y="897413"/>
                  </a:lnTo>
                  <a:lnTo>
                    <a:pt x="59829" y="876638"/>
                  </a:lnTo>
                  <a:lnTo>
                    <a:pt x="28191" y="844963"/>
                  </a:lnTo>
                  <a:lnTo>
                    <a:pt x="7448" y="804803"/>
                  </a:lnTo>
                  <a:lnTo>
                    <a:pt x="0" y="758571"/>
                  </a:lnTo>
                  <a:lnTo>
                    <a:pt x="0" y="146176"/>
                  </a:lnTo>
                  <a:close/>
                </a:path>
              </a:pathLst>
            </a:custGeom>
            <a:ln w="30480">
              <a:solidFill>
                <a:srgbClr val="D7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410450" y="3105149"/>
              <a:ext cx="123825" cy="904875"/>
            </a:xfrm>
            <a:custGeom>
              <a:avLst/>
              <a:gdLst/>
              <a:ahLst/>
              <a:cxnLst/>
              <a:rect l="l" t="t" r="r" b="b"/>
              <a:pathLst>
                <a:path w="123825" h="904875">
                  <a:moveTo>
                    <a:pt x="86232" y="0"/>
                  </a:moveTo>
                  <a:lnTo>
                    <a:pt x="37592" y="0"/>
                  </a:lnTo>
                  <a:lnTo>
                    <a:pt x="22985" y="2962"/>
                  </a:lnTo>
                  <a:lnTo>
                    <a:pt x="11033" y="11033"/>
                  </a:lnTo>
                  <a:lnTo>
                    <a:pt x="2962" y="22985"/>
                  </a:lnTo>
                  <a:lnTo>
                    <a:pt x="0" y="37591"/>
                  </a:lnTo>
                  <a:lnTo>
                    <a:pt x="0" y="867283"/>
                  </a:lnTo>
                  <a:lnTo>
                    <a:pt x="2962" y="881889"/>
                  </a:lnTo>
                  <a:lnTo>
                    <a:pt x="11033" y="893841"/>
                  </a:lnTo>
                  <a:lnTo>
                    <a:pt x="22985" y="901912"/>
                  </a:lnTo>
                  <a:lnTo>
                    <a:pt x="37592" y="904875"/>
                  </a:lnTo>
                  <a:lnTo>
                    <a:pt x="86232" y="904875"/>
                  </a:lnTo>
                  <a:lnTo>
                    <a:pt x="100839" y="901912"/>
                  </a:lnTo>
                  <a:lnTo>
                    <a:pt x="112791" y="893841"/>
                  </a:lnTo>
                  <a:lnTo>
                    <a:pt x="120862" y="881889"/>
                  </a:lnTo>
                  <a:lnTo>
                    <a:pt x="123825" y="867283"/>
                  </a:lnTo>
                  <a:lnTo>
                    <a:pt x="123825" y="37591"/>
                  </a:lnTo>
                  <a:lnTo>
                    <a:pt x="120862" y="22985"/>
                  </a:lnTo>
                  <a:lnTo>
                    <a:pt x="112791" y="11033"/>
                  </a:lnTo>
                  <a:lnTo>
                    <a:pt x="100839" y="2962"/>
                  </a:lnTo>
                  <a:lnTo>
                    <a:pt x="86232" y="0"/>
                  </a:lnTo>
                  <a:close/>
                </a:path>
              </a:pathLst>
            </a:custGeom>
            <a:solidFill>
              <a:srgbClr val="2C2D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799705" y="3366452"/>
            <a:ext cx="2590800" cy="357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2150" b="1" spc="65" dirty="0" smtClean="0">
                <a:solidFill>
                  <a:srgbClr val="3C3838"/>
                </a:solidFill>
                <a:latin typeface="Tahoma"/>
                <a:cs typeface="Tahoma"/>
              </a:rPr>
              <a:t>Main Partners</a:t>
            </a:r>
            <a:endParaRPr sz="2150" dirty="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28675" y="4247260"/>
            <a:ext cx="6383020" cy="935355"/>
            <a:chOff x="828675" y="4247260"/>
            <a:chExt cx="6383020" cy="935355"/>
          </a:xfrm>
        </p:grpSpPr>
        <p:sp>
          <p:nvSpPr>
            <p:cNvPr id="12" name="object 12"/>
            <p:cNvSpPr/>
            <p:nvPr/>
          </p:nvSpPr>
          <p:spPr>
            <a:xfrm>
              <a:off x="871537" y="4262500"/>
              <a:ext cx="6325235" cy="904875"/>
            </a:xfrm>
            <a:custGeom>
              <a:avLst/>
              <a:gdLst/>
              <a:ahLst/>
              <a:cxnLst/>
              <a:rect l="l" t="t" r="r" b="b"/>
              <a:pathLst>
                <a:path w="6325234" h="904875">
                  <a:moveTo>
                    <a:pt x="0" y="146176"/>
                  </a:moveTo>
                  <a:lnTo>
                    <a:pt x="7456" y="99958"/>
                  </a:lnTo>
                  <a:lnTo>
                    <a:pt x="28217" y="59829"/>
                  </a:lnTo>
                  <a:lnTo>
                    <a:pt x="59875" y="28191"/>
                  </a:lnTo>
                  <a:lnTo>
                    <a:pt x="100019" y="7448"/>
                  </a:lnTo>
                  <a:lnTo>
                    <a:pt x="146240" y="0"/>
                  </a:lnTo>
                  <a:lnTo>
                    <a:pt x="6178359" y="0"/>
                  </a:lnTo>
                  <a:lnTo>
                    <a:pt x="6224591" y="7448"/>
                  </a:lnTo>
                  <a:lnTo>
                    <a:pt x="6264752" y="28191"/>
                  </a:lnTo>
                  <a:lnTo>
                    <a:pt x="6296426" y="59829"/>
                  </a:lnTo>
                  <a:lnTo>
                    <a:pt x="6317201" y="99958"/>
                  </a:lnTo>
                  <a:lnTo>
                    <a:pt x="6324663" y="146176"/>
                  </a:lnTo>
                  <a:lnTo>
                    <a:pt x="6324663" y="758571"/>
                  </a:lnTo>
                  <a:lnTo>
                    <a:pt x="6317201" y="804803"/>
                  </a:lnTo>
                  <a:lnTo>
                    <a:pt x="6296426" y="844963"/>
                  </a:lnTo>
                  <a:lnTo>
                    <a:pt x="6264752" y="876638"/>
                  </a:lnTo>
                  <a:lnTo>
                    <a:pt x="6224591" y="897413"/>
                  </a:lnTo>
                  <a:lnTo>
                    <a:pt x="6178359" y="904875"/>
                  </a:lnTo>
                  <a:lnTo>
                    <a:pt x="146240" y="904875"/>
                  </a:lnTo>
                  <a:lnTo>
                    <a:pt x="100019" y="897413"/>
                  </a:lnTo>
                  <a:lnTo>
                    <a:pt x="59875" y="876638"/>
                  </a:lnTo>
                  <a:lnTo>
                    <a:pt x="28217" y="844963"/>
                  </a:lnTo>
                  <a:lnTo>
                    <a:pt x="7456" y="804803"/>
                  </a:lnTo>
                  <a:lnTo>
                    <a:pt x="0" y="758571"/>
                  </a:lnTo>
                  <a:lnTo>
                    <a:pt x="0" y="146176"/>
                  </a:lnTo>
                  <a:close/>
                </a:path>
              </a:pathLst>
            </a:custGeom>
            <a:ln w="30480">
              <a:solidFill>
                <a:srgbClr val="D7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28675" y="4257674"/>
              <a:ext cx="123825" cy="904875"/>
            </a:xfrm>
            <a:custGeom>
              <a:avLst/>
              <a:gdLst/>
              <a:ahLst/>
              <a:cxnLst/>
              <a:rect l="l" t="t" r="r" b="b"/>
              <a:pathLst>
                <a:path w="123825" h="904875">
                  <a:moveTo>
                    <a:pt x="86220" y="0"/>
                  </a:moveTo>
                  <a:lnTo>
                    <a:pt x="37604" y="0"/>
                  </a:lnTo>
                  <a:lnTo>
                    <a:pt x="22968" y="2962"/>
                  </a:lnTo>
                  <a:lnTo>
                    <a:pt x="11015" y="11033"/>
                  </a:lnTo>
                  <a:lnTo>
                    <a:pt x="2955" y="22985"/>
                  </a:lnTo>
                  <a:lnTo>
                    <a:pt x="0" y="37591"/>
                  </a:lnTo>
                  <a:lnTo>
                    <a:pt x="0" y="867282"/>
                  </a:lnTo>
                  <a:lnTo>
                    <a:pt x="2955" y="881889"/>
                  </a:lnTo>
                  <a:lnTo>
                    <a:pt x="11015" y="893841"/>
                  </a:lnTo>
                  <a:lnTo>
                    <a:pt x="22968" y="901912"/>
                  </a:lnTo>
                  <a:lnTo>
                    <a:pt x="37604" y="904875"/>
                  </a:lnTo>
                  <a:lnTo>
                    <a:pt x="86220" y="904875"/>
                  </a:lnTo>
                  <a:lnTo>
                    <a:pt x="100856" y="901912"/>
                  </a:lnTo>
                  <a:lnTo>
                    <a:pt x="112809" y="893841"/>
                  </a:lnTo>
                  <a:lnTo>
                    <a:pt x="120869" y="881889"/>
                  </a:lnTo>
                  <a:lnTo>
                    <a:pt x="123825" y="867282"/>
                  </a:lnTo>
                  <a:lnTo>
                    <a:pt x="123825" y="37591"/>
                  </a:lnTo>
                  <a:lnTo>
                    <a:pt x="120869" y="22985"/>
                  </a:lnTo>
                  <a:lnTo>
                    <a:pt x="112809" y="11033"/>
                  </a:lnTo>
                  <a:lnTo>
                    <a:pt x="100856" y="2962"/>
                  </a:lnTo>
                  <a:lnTo>
                    <a:pt x="86220" y="0"/>
                  </a:lnTo>
                  <a:close/>
                </a:path>
              </a:pathLst>
            </a:custGeom>
            <a:solidFill>
              <a:srgbClr val="2C2D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220787" y="4519993"/>
            <a:ext cx="2915920" cy="357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2150" b="1" dirty="0" smtClean="0">
                <a:solidFill>
                  <a:srgbClr val="3C3838"/>
                </a:solidFill>
                <a:latin typeface="Tahoma"/>
                <a:cs typeface="Tahoma"/>
              </a:rPr>
              <a:t>Cost Structure</a:t>
            </a:r>
            <a:endParaRPr sz="2150" dirty="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410450" y="4247260"/>
            <a:ext cx="6373495" cy="935355"/>
            <a:chOff x="7410450" y="4247260"/>
            <a:chExt cx="6373495" cy="935355"/>
          </a:xfrm>
        </p:grpSpPr>
        <p:sp>
          <p:nvSpPr>
            <p:cNvPr id="16" name="object 16"/>
            <p:cNvSpPr/>
            <p:nvPr/>
          </p:nvSpPr>
          <p:spPr>
            <a:xfrm>
              <a:off x="7443851" y="4262500"/>
              <a:ext cx="6324600" cy="904875"/>
            </a:xfrm>
            <a:custGeom>
              <a:avLst/>
              <a:gdLst/>
              <a:ahLst/>
              <a:cxnLst/>
              <a:rect l="l" t="t" r="r" b="b"/>
              <a:pathLst>
                <a:path w="6324600" h="904875">
                  <a:moveTo>
                    <a:pt x="0" y="146176"/>
                  </a:moveTo>
                  <a:lnTo>
                    <a:pt x="7448" y="99958"/>
                  </a:lnTo>
                  <a:lnTo>
                    <a:pt x="28191" y="59829"/>
                  </a:lnTo>
                  <a:lnTo>
                    <a:pt x="59829" y="28191"/>
                  </a:lnTo>
                  <a:lnTo>
                    <a:pt x="99958" y="7448"/>
                  </a:lnTo>
                  <a:lnTo>
                    <a:pt x="146176" y="0"/>
                  </a:lnTo>
                  <a:lnTo>
                    <a:pt x="6178295" y="0"/>
                  </a:lnTo>
                  <a:lnTo>
                    <a:pt x="6224528" y="7448"/>
                  </a:lnTo>
                  <a:lnTo>
                    <a:pt x="6264688" y="28191"/>
                  </a:lnTo>
                  <a:lnTo>
                    <a:pt x="6296363" y="59829"/>
                  </a:lnTo>
                  <a:lnTo>
                    <a:pt x="6317138" y="99958"/>
                  </a:lnTo>
                  <a:lnTo>
                    <a:pt x="6324600" y="146176"/>
                  </a:lnTo>
                  <a:lnTo>
                    <a:pt x="6324600" y="758571"/>
                  </a:lnTo>
                  <a:lnTo>
                    <a:pt x="6317138" y="804803"/>
                  </a:lnTo>
                  <a:lnTo>
                    <a:pt x="6296363" y="844963"/>
                  </a:lnTo>
                  <a:lnTo>
                    <a:pt x="6264688" y="876638"/>
                  </a:lnTo>
                  <a:lnTo>
                    <a:pt x="6224528" y="897413"/>
                  </a:lnTo>
                  <a:lnTo>
                    <a:pt x="6178295" y="904875"/>
                  </a:lnTo>
                  <a:lnTo>
                    <a:pt x="146176" y="904875"/>
                  </a:lnTo>
                  <a:lnTo>
                    <a:pt x="99958" y="897413"/>
                  </a:lnTo>
                  <a:lnTo>
                    <a:pt x="59829" y="876638"/>
                  </a:lnTo>
                  <a:lnTo>
                    <a:pt x="28191" y="844963"/>
                  </a:lnTo>
                  <a:lnTo>
                    <a:pt x="7448" y="804803"/>
                  </a:lnTo>
                  <a:lnTo>
                    <a:pt x="0" y="758571"/>
                  </a:lnTo>
                  <a:lnTo>
                    <a:pt x="0" y="146176"/>
                  </a:lnTo>
                  <a:close/>
                </a:path>
              </a:pathLst>
            </a:custGeom>
            <a:ln w="30480">
              <a:solidFill>
                <a:srgbClr val="D7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410450" y="4257674"/>
              <a:ext cx="123825" cy="904875"/>
            </a:xfrm>
            <a:custGeom>
              <a:avLst/>
              <a:gdLst/>
              <a:ahLst/>
              <a:cxnLst/>
              <a:rect l="l" t="t" r="r" b="b"/>
              <a:pathLst>
                <a:path w="123825" h="904875">
                  <a:moveTo>
                    <a:pt x="86232" y="0"/>
                  </a:moveTo>
                  <a:lnTo>
                    <a:pt x="37592" y="0"/>
                  </a:lnTo>
                  <a:lnTo>
                    <a:pt x="22985" y="2962"/>
                  </a:lnTo>
                  <a:lnTo>
                    <a:pt x="11033" y="11033"/>
                  </a:lnTo>
                  <a:lnTo>
                    <a:pt x="2962" y="22985"/>
                  </a:lnTo>
                  <a:lnTo>
                    <a:pt x="0" y="37591"/>
                  </a:lnTo>
                  <a:lnTo>
                    <a:pt x="0" y="867282"/>
                  </a:lnTo>
                  <a:lnTo>
                    <a:pt x="2962" y="881889"/>
                  </a:lnTo>
                  <a:lnTo>
                    <a:pt x="11033" y="893841"/>
                  </a:lnTo>
                  <a:lnTo>
                    <a:pt x="22985" y="901912"/>
                  </a:lnTo>
                  <a:lnTo>
                    <a:pt x="37592" y="904875"/>
                  </a:lnTo>
                  <a:lnTo>
                    <a:pt x="86232" y="904875"/>
                  </a:lnTo>
                  <a:lnTo>
                    <a:pt x="100839" y="901912"/>
                  </a:lnTo>
                  <a:lnTo>
                    <a:pt x="112791" y="893841"/>
                  </a:lnTo>
                  <a:lnTo>
                    <a:pt x="120862" y="881889"/>
                  </a:lnTo>
                  <a:lnTo>
                    <a:pt x="123825" y="867282"/>
                  </a:lnTo>
                  <a:lnTo>
                    <a:pt x="123825" y="37591"/>
                  </a:lnTo>
                  <a:lnTo>
                    <a:pt x="120862" y="22985"/>
                  </a:lnTo>
                  <a:lnTo>
                    <a:pt x="112791" y="11033"/>
                  </a:lnTo>
                  <a:lnTo>
                    <a:pt x="100839" y="2962"/>
                  </a:lnTo>
                  <a:lnTo>
                    <a:pt x="86232" y="0"/>
                  </a:lnTo>
                  <a:close/>
                </a:path>
              </a:pathLst>
            </a:custGeom>
            <a:solidFill>
              <a:srgbClr val="2C2D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799705" y="4519993"/>
            <a:ext cx="2580640" cy="357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2150" b="1" spc="65" dirty="0" smtClean="0">
                <a:solidFill>
                  <a:srgbClr val="3C3838"/>
                </a:solidFill>
                <a:latin typeface="Tahoma"/>
                <a:cs typeface="Tahoma"/>
              </a:rPr>
              <a:t>Main Activities</a:t>
            </a:r>
            <a:endParaRPr sz="2150" dirty="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28675" y="5399785"/>
            <a:ext cx="6383020" cy="935355"/>
            <a:chOff x="828675" y="5399785"/>
            <a:chExt cx="6383020" cy="935355"/>
          </a:xfrm>
        </p:grpSpPr>
        <p:sp>
          <p:nvSpPr>
            <p:cNvPr id="20" name="object 20"/>
            <p:cNvSpPr/>
            <p:nvPr/>
          </p:nvSpPr>
          <p:spPr>
            <a:xfrm>
              <a:off x="871537" y="5415025"/>
              <a:ext cx="6325235" cy="904875"/>
            </a:xfrm>
            <a:custGeom>
              <a:avLst/>
              <a:gdLst/>
              <a:ahLst/>
              <a:cxnLst/>
              <a:rect l="l" t="t" r="r" b="b"/>
              <a:pathLst>
                <a:path w="6325234" h="904875">
                  <a:moveTo>
                    <a:pt x="0" y="146176"/>
                  </a:moveTo>
                  <a:lnTo>
                    <a:pt x="7456" y="99958"/>
                  </a:lnTo>
                  <a:lnTo>
                    <a:pt x="28217" y="59829"/>
                  </a:lnTo>
                  <a:lnTo>
                    <a:pt x="59875" y="28191"/>
                  </a:lnTo>
                  <a:lnTo>
                    <a:pt x="100019" y="7448"/>
                  </a:lnTo>
                  <a:lnTo>
                    <a:pt x="146240" y="0"/>
                  </a:lnTo>
                  <a:lnTo>
                    <a:pt x="6178359" y="0"/>
                  </a:lnTo>
                  <a:lnTo>
                    <a:pt x="6224591" y="7448"/>
                  </a:lnTo>
                  <a:lnTo>
                    <a:pt x="6264752" y="28191"/>
                  </a:lnTo>
                  <a:lnTo>
                    <a:pt x="6296426" y="59829"/>
                  </a:lnTo>
                  <a:lnTo>
                    <a:pt x="6317201" y="99958"/>
                  </a:lnTo>
                  <a:lnTo>
                    <a:pt x="6324663" y="146176"/>
                  </a:lnTo>
                  <a:lnTo>
                    <a:pt x="6324663" y="758571"/>
                  </a:lnTo>
                  <a:lnTo>
                    <a:pt x="6317201" y="804803"/>
                  </a:lnTo>
                  <a:lnTo>
                    <a:pt x="6296426" y="844963"/>
                  </a:lnTo>
                  <a:lnTo>
                    <a:pt x="6264752" y="876638"/>
                  </a:lnTo>
                  <a:lnTo>
                    <a:pt x="6224591" y="897413"/>
                  </a:lnTo>
                  <a:lnTo>
                    <a:pt x="6178359" y="904875"/>
                  </a:lnTo>
                  <a:lnTo>
                    <a:pt x="146240" y="904875"/>
                  </a:lnTo>
                  <a:lnTo>
                    <a:pt x="100019" y="897413"/>
                  </a:lnTo>
                  <a:lnTo>
                    <a:pt x="59875" y="876638"/>
                  </a:lnTo>
                  <a:lnTo>
                    <a:pt x="28217" y="844963"/>
                  </a:lnTo>
                  <a:lnTo>
                    <a:pt x="7456" y="804803"/>
                  </a:lnTo>
                  <a:lnTo>
                    <a:pt x="0" y="758571"/>
                  </a:lnTo>
                  <a:lnTo>
                    <a:pt x="0" y="146176"/>
                  </a:lnTo>
                  <a:close/>
                </a:path>
              </a:pathLst>
            </a:custGeom>
            <a:ln w="30480">
              <a:solidFill>
                <a:srgbClr val="D7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28675" y="5410199"/>
              <a:ext cx="123825" cy="904875"/>
            </a:xfrm>
            <a:custGeom>
              <a:avLst/>
              <a:gdLst/>
              <a:ahLst/>
              <a:cxnLst/>
              <a:rect l="l" t="t" r="r" b="b"/>
              <a:pathLst>
                <a:path w="123825" h="904875">
                  <a:moveTo>
                    <a:pt x="86220" y="0"/>
                  </a:moveTo>
                  <a:lnTo>
                    <a:pt x="37604" y="0"/>
                  </a:lnTo>
                  <a:lnTo>
                    <a:pt x="22968" y="2962"/>
                  </a:lnTo>
                  <a:lnTo>
                    <a:pt x="11015" y="11033"/>
                  </a:lnTo>
                  <a:lnTo>
                    <a:pt x="2955" y="22985"/>
                  </a:lnTo>
                  <a:lnTo>
                    <a:pt x="0" y="37592"/>
                  </a:lnTo>
                  <a:lnTo>
                    <a:pt x="0" y="867282"/>
                  </a:lnTo>
                  <a:lnTo>
                    <a:pt x="2955" y="881889"/>
                  </a:lnTo>
                  <a:lnTo>
                    <a:pt x="11015" y="893841"/>
                  </a:lnTo>
                  <a:lnTo>
                    <a:pt x="22968" y="901912"/>
                  </a:lnTo>
                  <a:lnTo>
                    <a:pt x="37604" y="904875"/>
                  </a:lnTo>
                  <a:lnTo>
                    <a:pt x="86220" y="904875"/>
                  </a:lnTo>
                  <a:lnTo>
                    <a:pt x="100856" y="901912"/>
                  </a:lnTo>
                  <a:lnTo>
                    <a:pt x="112809" y="893841"/>
                  </a:lnTo>
                  <a:lnTo>
                    <a:pt x="120869" y="881889"/>
                  </a:lnTo>
                  <a:lnTo>
                    <a:pt x="123825" y="867282"/>
                  </a:lnTo>
                  <a:lnTo>
                    <a:pt x="123825" y="37592"/>
                  </a:lnTo>
                  <a:lnTo>
                    <a:pt x="120869" y="22985"/>
                  </a:lnTo>
                  <a:lnTo>
                    <a:pt x="112809" y="11033"/>
                  </a:lnTo>
                  <a:lnTo>
                    <a:pt x="100856" y="2962"/>
                  </a:lnTo>
                  <a:lnTo>
                    <a:pt x="86220" y="0"/>
                  </a:lnTo>
                  <a:close/>
                </a:path>
              </a:pathLst>
            </a:custGeom>
            <a:solidFill>
              <a:srgbClr val="2C2D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220787" y="5673407"/>
            <a:ext cx="2926715" cy="357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2150" b="1" spc="110" dirty="0" smtClean="0">
                <a:solidFill>
                  <a:srgbClr val="3C3838"/>
                </a:solidFill>
                <a:latin typeface="Tahoma"/>
                <a:cs typeface="Tahoma"/>
              </a:rPr>
              <a:t>Revenue Streams</a:t>
            </a:r>
            <a:endParaRPr sz="2150" dirty="0">
              <a:latin typeface="Tahoma"/>
              <a:cs typeface="Tahom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410450" y="5399785"/>
            <a:ext cx="6373495" cy="935355"/>
            <a:chOff x="7410450" y="5399785"/>
            <a:chExt cx="6373495" cy="935355"/>
          </a:xfrm>
        </p:grpSpPr>
        <p:sp>
          <p:nvSpPr>
            <p:cNvPr id="24" name="object 24"/>
            <p:cNvSpPr/>
            <p:nvPr/>
          </p:nvSpPr>
          <p:spPr>
            <a:xfrm>
              <a:off x="7443851" y="5415025"/>
              <a:ext cx="6324600" cy="904875"/>
            </a:xfrm>
            <a:custGeom>
              <a:avLst/>
              <a:gdLst/>
              <a:ahLst/>
              <a:cxnLst/>
              <a:rect l="l" t="t" r="r" b="b"/>
              <a:pathLst>
                <a:path w="6324600" h="904875">
                  <a:moveTo>
                    <a:pt x="0" y="146176"/>
                  </a:moveTo>
                  <a:lnTo>
                    <a:pt x="7448" y="99958"/>
                  </a:lnTo>
                  <a:lnTo>
                    <a:pt x="28191" y="59829"/>
                  </a:lnTo>
                  <a:lnTo>
                    <a:pt x="59829" y="28191"/>
                  </a:lnTo>
                  <a:lnTo>
                    <a:pt x="99958" y="7448"/>
                  </a:lnTo>
                  <a:lnTo>
                    <a:pt x="146176" y="0"/>
                  </a:lnTo>
                  <a:lnTo>
                    <a:pt x="6178295" y="0"/>
                  </a:lnTo>
                  <a:lnTo>
                    <a:pt x="6224528" y="7448"/>
                  </a:lnTo>
                  <a:lnTo>
                    <a:pt x="6264688" y="28191"/>
                  </a:lnTo>
                  <a:lnTo>
                    <a:pt x="6296363" y="59829"/>
                  </a:lnTo>
                  <a:lnTo>
                    <a:pt x="6317138" y="99958"/>
                  </a:lnTo>
                  <a:lnTo>
                    <a:pt x="6324600" y="146176"/>
                  </a:lnTo>
                  <a:lnTo>
                    <a:pt x="6324600" y="758571"/>
                  </a:lnTo>
                  <a:lnTo>
                    <a:pt x="6317138" y="804803"/>
                  </a:lnTo>
                  <a:lnTo>
                    <a:pt x="6296363" y="844963"/>
                  </a:lnTo>
                  <a:lnTo>
                    <a:pt x="6264688" y="876638"/>
                  </a:lnTo>
                  <a:lnTo>
                    <a:pt x="6224528" y="897413"/>
                  </a:lnTo>
                  <a:lnTo>
                    <a:pt x="6178295" y="904875"/>
                  </a:lnTo>
                  <a:lnTo>
                    <a:pt x="146176" y="904875"/>
                  </a:lnTo>
                  <a:lnTo>
                    <a:pt x="99958" y="897413"/>
                  </a:lnTo>
                  <a:lnTo>
                    <a:pt x="59829" y="876638"/>
                  </a:lnTo>
                  <a:lnTo>
                    <a:pt x="28191" y="844963"/>
                  </a:lnTo>
                  <a:lnTo>
                    <a:pt x="7448" y="804803"/>
                  </a:lnTo>
                  <a:lnTo>
                    <a:pt x="0" y="758571"/>
                  </a:lnTo>
                  <a:lnTo>
                    <a:pt x="0" y="146176"/>
                  </a:lnTo>
                  <a:close/>
                </a:path>
              </a:pathLst>
            </a:custGeom>
            <a:ln w="30480">
              <a:solidFill>
                <a:srgbClr val="D7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410450" y="5410199"/>
              <a:ext cx="123825" cy="904875"/>
            </a:xfrm>
            <a:custGeom>
              <a:avLst/>
              <a:gdLst/>
              <a:ahLst/>
              <a:cxnLst/>
              <a:rect l="l" t="t" r="r" b="b"/>
              <a:pathLst>
                <a:path w="123825" h="904875">
                  <a:moveTo>
                    <a:pt x="86232" y="0"/>
                  </a:moveTo>
                  <a:lnTo>
                    <a:pt x="37592" y="0"/>
                  </a:lnTo>
                  <a:lnTo>
                    <a:pt x="22985" y="2962"/>
                  </a:lnTo>
                  <a:lnTo>
                    <a:pt x="11033" y="11033"/>
                  </a:lnTo>
                  <a:lnTo>
                    <a:pt x="2962" y="22985"/>
                  </a:lnTo>
                  <a:lnTo>
                    <a:pt x="0" y="37592"/>
                  </a:lnTo>
                  <a:lnTo>
                    <a:pt x="0" y="867282"/>
                  </a:lnTo>
                  <a:lnTo>
                    <a:pt x="2962" y="881889"/>
                  </a:lnTo>
                  <a:lnTo>
                    <a:pt x="11033" y="893841"/>
                  </a:lnTo>
                  <a:lnTo>
                    <a:pt x="22985" y="901912"/>
                  </a:lnTo>
                  <a:lnTo>
                    <a:pt x="37592" y="904875"/>
                  </a:lnTo>
                  <a:lnTo>
                    <a:pt x="86232" y="904875"/>
                  </a:lnTo>
                  <a:lnTo>
                    <a:pt x="100839" y="901912"/>
                  </a:lnTo>
                  <a:lnTo>
                    <a:pt x="112791" y="893841"/>
                  </a:lnTo>
                  <a:lnTo>
                    <a:pt x="120862" y="881889"/>
                  </a:lnTo>
                  <a:lnTo>
                    <a:pt x="123825" y="867282"/>
                  </a:lnTo>
                  <a:lnTo>
                    <a:pt x="123825" y="37592"/>
                  </a:lnTo>
                  <a:lnTo>
                    <a:pt x="120862" y="22985"/>
                  </a:lnTo>
                  <a:lnTo>
                    <a:pt x="112791" y="11033"/>
                  </a:lnTo>
                  <a:lnTo>
                    <a:pt x="100839" y="2962"/>
                  </a:lnTo>
                  <a:lnTo>
                    <a:pt x="86232" y="0"/>
                  </a:lnTo>
                  <a:close/>
                </a:path>
              </a:pathLst>
            </a:custGeom>
            <a:solidFill>
              <a:srgbClr val="2C2D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7799705" y="5673407"/>
            <a:ext cx="1301750" cy="357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2150" b="1" spc="35" dirty="0" smtClean="0">
                <a:solidFill>
                  <a:srgbClr val="3C3838"/>
                </a:solidFill>
                <a:latin typeface="Tahoma"/>
                <a:cs typeface="Tahoma"/>
              </a:rPr>
              <a:t>Pricing</a:t>
            </a:r>
            <a:endParaRPr sz="215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31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pc="120" dirty="0" smtClean="0"/>
              <a:t>Project Roadmap</a:t>
            </a:r>
            <a:endParaRPr spc="-10" dirty="0"/>
          </a:p>
        </p:txBody>
      </p:sp>
      <p:sp>
        <p:nvSpPr>
          <p:cNvPr id="3" name="object 3"/>
          <p:cNvSpPr/>
          <p:nvPr/>
        </p:nvSpPr>
        <p:spPr>
          <a:xfrm>
            <a:off x="866775" y="4276725"/>
            <a:ext cx="4171950" cy="247650"/>
          </a:xfrm>
          <a:custGeom>
            <a:avLst/>
            <a:gdLst/>
            <a:ahLst/>
            <a:cxnLst/>
            <a:rect l="l" t="t" r="r" b="b"/>
            <a:pathLst>
              <a:path w="4171950" h="247650">
                <a:moveTo>
                  <a:pt x="4134739" y="0"/>
                </a:moveTo>
                <a:lnTo>
                  <a:pt x="37147" y="0"/>
                </a:lnTo>
                <a:lnTo>
                  <a:pt x="22690" y="2921"/>
                </a:lnTo>
                <a:lnTo>
                  <a:pt x="10882" y="10890"/>
                </a:lnTo>
                <a:lnTo>
                  <a:pt x="2920" y="22717"/>
                </a:lnTo>
                <a:lnTo>
                  <a:pt x="0" y="37211"/>
                </a:lnTo>
                <a:lnTo>
                  <a:pt x="0" y="210438"/>
                </a:lnTo>
                <a:lnTo>
                  <a:pt x="2920" y="224932"/>
                </a:lnTo>
                <a:lnTo>
                  <a:pt x="10882" y="236759"/>
                </a:lnTo>
                <a:lnTo>
                  <a:pt x="22690" y="244728"/>
                </a:lnTo>
                <a:lnTo>
                  <a:pt x="37147" y="247650"/>
                </a:lnTo>
                <a:lnTo>
                  <a:pt x="4134739" y="247650"/>
                </a:lnTo>
                <a:lnTo>
                  <a:pt x="4149232" y="244728"/>
                </a:lnTo>
                <a:lnTo>
                  <a:pt x="4161059" y="236759"/>
                </a:lnTo>
                <a:lnTo>
                  <a:pt x="4169029" y="224932"/>
                </a:lnTo>
                <a:lnTo>
                  <a:pt x="4171950" y="210438"/>
                </a:lnTo>
                <a:lnTo>
                  <a:pt x="4171950" y="37211"/>
                </a:lnTo>
                <a:lnTo>
                  <a:pt x="4169029" y="22717"/>
                </a:lnTo>
                <a:lnTo>
                  <a:pt x="4161059" y="10890"/>
                </a:lnTo>
                <a:lnTo>
                  <a:pt x="4149232" y="2921"/>
                </a:lnTo>
                <a:lnTo>
                  <a:pt x="4134739" y="0"/>
                </a:lnTo>
                <a:close/>
              </a:path>
            </a:pathLst>
          </a:custGeom>
          <a:solidFill>
            <a:srgbClr val="F1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98550" y="4754816"/>
            <a:ext cx="2409825" cy="11342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2150" b="1" dirty="0" smtClean="0">
                <a:solidFill>
                  <a:srgbClr val="3C3838"/>
                </a:solidFill>
                <a:latin typeface="Tahoma"/>
                <a:cs typeface="Tahoma"/>
              </a:rPr>
              <a:t>Launch Dates</a:t>
            </a:r>
            <a:endParaRPr sz="215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725"/>
              </a:spcBef>
            </a:pPr>
            <a:r>
              <a:rPr lang="en-US" sz="1850" spc="-70" dirty="0" smtClean="0">
                <a:solidFill>
                  <a:srgbClr val="3C3838"/>
                </a:solidFill>
                <a:latin typeface="Tahoma"/>
                <a:cs typeface="Tahoma"/>
              </a:rPr>
              <a:t>Key product and feature release timelines</a:t>
            </a:r>
            <a:endParaRPr sz="1850" dirty="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229225" y="3905250"/>
            <a:ext cx="4171950" cy="247650"/>
          </a:xfrm>
          <a:custGeom>
            <a:avLst/>
            <a:gdLst/>
            <a:ahLst/>
            <a:cxnLst/>
            <a:rect l="l" t="t" r="r" b="b"/>
            <a:pathLst>
              <a:path w="4171950" h="247650">
                <a:moveTo>
                  <a:pt x="4134739" y="0"/>
                </a:moveTo>
                <a:lnTo>
                  <a:pt x="37211" y="0"/>
                </a:lnTo>
                <a:lnTo>
                  <a:pt x="22717" y="2921"/>
                </a:lnTo>
                <a:lnTo>
                  <a:pt x="10890" y="10890"/>
                </a:lnTo>
                <a:lnTo>
                  <a:pt x="2921" y="22717"/>
                </a:lnTo>
                <a:lnTo>
                  <a:pt x="0" y="37211"/>
                </a:lnTo>
                <a:lnTo>
                  <a:pt x="0" y="210438"/>
                </a:lnTo>
                <a:lnTo>
                  <a:pt x="2921" y="224932"/>
                </a:lnTo>
                <a:lnTo>
                  <a:pt x="10890" y="236759"/>
                </a:lnTo>
                <a:lnTo>
                  <a:pt x="22717" y="244728"/>
                </a:lnTo>
                <a:lnTo>
                  <a:pt x="37211" y="247650"/>
                </a:lnTo>
                <a:lnTo>
                  <a:pt x="4134739" y="247650"/>
                </a:lnTo>
                <a:lnTo>
                  <a:pt x="4149232" y="244728"/>
                </a:lnTo>
                <a:lnTo>
                  <a:pt x="4161059" y="236759"/>
                </a:lnTo>
                <a:lnTo>
                  <a:pt x="4169029" y="224932"/>
                </a:lnTo>
                <a:lnTo>
                  <a:pt x="4171950" y="210438"/>
                </a:lnTo>
                <a:lnTo>
                  <a:pt x="4171950" y="37211"/>
                </a:lnTo>
                <a:lnTo>
                  <a:pt x="4169029" y="22717"/>
                </a:lnTo>
                <a:lnTo>
                  <a:pt x="4161059" y="10890"/>
                </a:lnTo>
                <a:lnTo>
                  <a:pt x="4149232" y="2921"/>
                </a:lnTo>
                <a:lnTo>
                  <a:pt x="4134739" y="0"/>
                </a:lnTo>
                <a:close/>
              </a:path>
            </a:pathLst>
          </a:custGeom>
          <a:solidFill>
            <a:srgbClr val="F1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463794" y="4384103"/>
            <a:ext cx="3458210" cy="122674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2150" b="1" dirty="0" smtClean="0">
                <a:solidFill>
                  <a:srgbClr val="3C3838"/>
                </a:solidFill>
                <a:latin typeface="Tahoma"/>
                <a:cs typeface="Tahoma"/>
              </a:rPr>
              <a:t>User Growth</a:t>
            </a:r>
            <a:endParaRPr sz="2150" dirty="0">
              <a:latin typeface="Tahoma"/>
              <a:cs typeface="Tahoma"/>
            </a:endParaRPr>
          </a:p>
          <a:p>
            <a:pPr marL="12700" marR="801370">
              <a:lnSpc>
                <a:spcPct val="132000"/>
              </a:lnSpc>
              <a:spcBef>
                <a:spcPts val="1015"/>
              </a:spcBef>
            </a:pPr>
            <a:r>
              <a:rPr lang="en-US" sz="1850" spc="-10" dirty="0" smtClean="0">
                <a:solidFill>
                  <a:srgbClr val="3C3838"/>
                </a:solidFill>
                <a:latin typeface="Tahoma"/>
                <a:cs typeface="Tahoma"/>
              </a:rPr>
              <a:t>Project increase in our customer base</a:t>
            </a:r>
            <a:endParaRPr sz="1850" dirty="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591675" y="3533775"/>
            <a:ext cx="4171950" cy="247650"/>
          </a:xfrm>
          <a:custGeom>
            <a:avLst/>
            <a:gdLst/>
            <a:ahLst/>
            <a:cxnLst/>
            <a:rect l="l" t="t" r="r" b="b"/>
            <a:pathLst>
              <a:path w="4171950" h="247650">
                <a:moveTo>
                  <a:pt x="4134738" y="0"/>
                </a:moveTo>
                <a:lnTo>
                  <a:pt x="37210" y="0"/>
                </a:lnTo>
                <a:lnTo>
                  <a:pt x="22717" y="2921"/>
                </a:lnTo>
                <a:lnTo>
                  <a:pt x="10890" y="10890"/>
                </a:lnTo>
                <a:lnTo>
                  <a:pt x="2921" y="22717"/>
                </a:lnTo>
                <a:lnTo>
                  <a:pt x="0" y="37211"/>
                </a:lnTo>
                <a:lnTo>
                  <a:pt x="0" y="210438"/>
                </a:lnTo>
                <a:lnTo>
                  <a:pt x="2921" y="224932"/>
                </a:lnTo>
                <a:lnTo>
                  <a:pt x="10890" y="236759"/>
                </a:lnTo>
                <a:lnTo>
                  <a:pt x="22717" y="244728"/>
                </a:lnTo>
                <a:lnTo>
                  <a:pt x="37210" y="247650"/>
                </a:lnTo>
                <a:lnTo>
                  <a:pt x="4134738" y="247650"/>
                </a:lnTo>
                <a:lnTo>
                  <a:pt x="4149232" y="244728"/>
                </a:lnTo>
                <a:lnTo>
                  <a:pt x="4161059" y="236759"/>
                </a:lnTo>
                <a:lnTo>
                  <a:pt x="4169029" y="224932"/>
                </a:lnTo>
                <a:lnTo>
                  <a:pt x="4171950" y="210438"/>
                </a:lnTo>
                <a:lnTo>
                  <a:pt x="4171950" y="37211"/>
                </a:lnTo>
                <a:lnTo>
                  <a:pt x="4169029" y="22717"/>
                </a:lnTo>
                <a:lnTo>
                  <a:pt x="4161059" y="10890"/>
                </a:lnTo>
                <a:lnTo>
                  <a:pt x="4149232" y="2921"/>
                </a:lnTo>
                <a:lnTo>
                  <a:pt x="4134738" y="0"/>
                </a:lnTo>
                <a:close/>
              </a:path>
            </a:pathLst>
          </a:custGeom>
          <a:solidFill>
            <a:srgbClr val="F1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829418" y="4013517"/>
            <a:ext cx="3642360" cy="84959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2150" b="1" spc="45" dirty="0" smtClean="0">
                <a:solidFill>
                  <a:srgbClr val="3C3838"/>
                </a:solidFill>
                <a:latin typeface="Tahoma"/>
                <a:cs typeface="Tahoma"/>
              </a:rPr>
              <a:t>Achieving Results</a:t>
            </a:r>
            <a:endParaRPr sz="215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725"/>
              </a:spcBef>
            </a:pPr>
            <a:r>
              <a:rPr lang="en-US" sz="1850" spc="-20" dirty="0" smtClean="0">
                <a:solidFill>
                  <a:srgbClr val="3C3838"/>
                </a:solidFill>
                <a:latin typeface="Tahoma"/>
                <a:cs typeface="Tahoma"/>
              </a:rPr>
              <a:t>Expected results and goals</a:t>
            </a:r>
            <a:r>
              <a:rPr sz="1850" spc="-10" dirty="0" smtClean="0">
                <a:solidFill>
                  <a:srgbClr val="3C3838"/>
                </a:solidFill>
                <a:latin typeface="Tahoma"/>
                <a:cs typeface="Tahoma"/>
              </a:rPr>
              <a:t>.</a:t>
            </a:r>
            <a:endParaRPr sz="185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55" dirty="0"/>
              <a:t>Moliyaviy</a:t>
            </a:r>
            <a:r>
              <a:rPr spc="-20" dirty="0"/>
              <a:t> </a:t>
            </a:r>
            <a:r>
              <a:rPr spc="60" dirty="0"/>
              <a:t>Ko‘rsatkichlar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28675" y="2828035"/>
            <a:ext cx="6383020" cy="1459230"/>
            <a:chOff x="828675" y="2828035"/>
            <a:chExt cx="6383020" cy="1459230"/>
          </a:xfrm>
        </p:grpSpPr>
        <p:sp>
          <p:nvSpPr>
            <p:cNvPr id="4" name="object 4"/>
            <p:cNvSpPr/>
            <p:nvPr/>
          </p:nvSpPr>
          <p:spPr>
            <a:xfrm>
              <a:off x="871537" y="2843275"/>
              <a:ext cx="6325235" cy="1428750"/>
            </a:xfrm>
            <a:custGeom>
              <a:avLst/>
              <a:gdLst/>
              <a:ahLst/>
              <a:cxnLst/>
              <a:rect l="l" t="t" r="r" b="b"/>
              <a:pathLst>
                <a:path w="6325234" h="1428750">
                  <a:moveTo>
                    <a:pt x="0" y="146812"/>
                  </a:moveTo>
                  <a:lnTo>
                    <a:pt x="7486" y="100380"/>
                  </a:lnTo>
                  <a:lnTo>
                    <a:pt x="28334" y="60076"/>
                  </a:lnTo>
                  <a:lnTo>
                    <a:pt x="60125" y="28305"/>
                  </a:lnTo>
                  <a:lnTo>
                    <a:pt x="100440" y="7477"/>
                  </a:lnTo>
                  <a:lnTo>
                    <a:pt x="146862" y="0"/>
                  </a:lnTo>
                  <a:lnTo>
                    <a:pt x="6177724" y="0"/>
                  </a:lnTo>
                  <a:lnTo>
                    <a:pt x="6224168" y="7477"/>
                  </a:lnTo>
                  <a:lnTo>
                    <a:pt x="6264505" y="28305"/>
                  </a:lnTo>
                  <a:lnTo>
                    <a:pt x="6296313" y="60076"/>
                  </a:lnTo>
                  <a:lnTo>
                    <a:pt x="6317172" y="100380"/>
                  </a:lnTo>
                  <a:lnTo>
                    <a:pt x="6324663" y="146812"/>
                  </a:lnTo>
                  <a:lnTo>
                    <a:pt x="6324663" y="1281811"/>
                  </a:lnTo>
                  <a:lnTo>
                    <a:pt x="6317172" y="1328255"/>
                  </a:lnTo>
                  <a:lnTo>
                    <a:pt x="6296313" y="1368591"/>
                  </a:lnTo>
                  <a:lnTo>
                    <a:pt x="6264505" y="1400399"/>
                  </a:lnTo>
                  <a:lnTo>
                    <a:pt x="6224168" y="1421259"/>
                  </a:lnTo>
                  <a:lnTo>
                    <a:pt x="6177724" y="1428750"/>
                  </a:lnTo>
                  <a:lnTo>
                    <a:pt x="146862" y="1428750"/>
                  </a:lnTo>
                  <a:lnTo>
                    <a:pt x="100440" y="1421259"/>
                  </a:lnTo>
                  <a:lnTo>
                    <a:pt x="60125" y="1400399"/>
                  </a:lnTo>
                  <a:lnTo>
                    <a:pt x="28334" y="1368591"/>
                  </a:lnTo>
                  <a:lnTo>
                    <a:pt x="7486" y="1328255"/>
                  </a:lnTo>
                  <a:lnTo>
                    <a:pt x="0" y="1281811"/>
                  </a:lnTo>
                  <a:lnTo>
                    <a:pt x="0" y="146812"/>
                  </a:lnTo>
                  <a:close/>
                </a:path>
              </a:pathLst>
            </a:custGeom>
            <a:ln w="30480">
              <a:solidFill>
                <a:srgbClr val="D7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28675" y="2838449"/>
              <a:ext cx="123825" cy="1428750"/>
            </a:xfrm>
            <a:custGeom>
              <a:avLst/>
              <a:gdLst/>
              <a:ahLst/>
              <a:cxnLst/>
              <a:rect l="l" t="t" r="r" b="b"/>
              <a:pathLst>
                <a:path w="123825" h="1428750">
                  <a:moveTo>
                    <a:pt x="86220" y="0"/>
                  </a:moveTo>
                  <a:lnTo>
                    <a:pt x="37604" y="0"/>
                  </a:lnTo>
                  <a:lnTo>
                    <a:pt x="22968" y="2962"/>
                  </a:lnTo>
                  <a:lnTo>
                    <a:pt x="11015" y="11033"/>
                  </a:lnTo>
                  <a:lnTo>
                    <a:pt x="2955" y="22985"/>
                  </a:lnTo>
                  <a:lnTo>
                    <a:pt x="0" y="37591"/>
                  </a:lnTo>
                  <a:lnTo>
                    <a:pt x="0" y="1391158"/>
                  </a:lnTo>
                  <a:lnTo>
                    <a:pt x="2955" y="1405764"/>
                  </a:lnTo>
                  <a:lnTo>
                    <a:pt x="11015" y="1417716"/>
                  </a:lnTo>
                  <a:lnTo>
                    <a:pt x="22968" y="1425787"/>
                  </a:lnTo>
                  <a:lnTo>
                    <a:pt x="37604" y="1428750"/>
                  </a:lnTo>
                  <a:lnTo>
                    <a:pt x="86220" y="1428750"/>
                  </a:lnTo>
                  <a:lnTo>
                    <a:pt x="100856" y="1425787"/>
                  </a:lnTo>
                  <a:lnTo>
                    <a:pt x="112809" y="1417716"/>
                  </a:lnTo>
                  <a:lnTo>
                    <a:pt x="120869" y="1405764"/>
                  </a:lnTo>
                  <a:lnTo>
                    <a:pt x="123825" y="1391158"/>
                  </a:lnTo>
                  <a:lnTo>
                    <a:pt x="123825" y="37591"/>
                  </a:lnTo>
                  <a:lnTo>
                    <a:pt x="120869" y="22985"/>
                  </a:lnTo>
                  <a:lnTo>
                    <a:pt x="112809" y="11033"/>
                  </a:lnTo>
                  <a:lnTo>
                    <a:pt x="100856" y="2962"/>
                  </a:lnTo>
                  <a:lnTo>
                    <a:pt x="86220" y="0"/>
                  </a:lnTo>
                  <a:close/>
                </a:path>
              </a:pathLst>
            </a:custGeom>
            <a:solidFill>
              <a:srgbClr val="2C2D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220787" y="3100387"/>
            <a:ext cx="5116195" cy="85851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b="1" spc="155" dirty="0">
                <a:solidFill>
                  <a:srgbClr val="3C3838"/>
                </a:solidFill>
                <a:latin typeface="Tahoma"/>
                <a:cs typeface="Tahoma"/>
              </a:rPr>
              <a:t>MAU</a:t>
            </a:r>
            <a:r>
              <a:rPr sz="2150" b="1" spc="105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2150" b="1" dirty="0">
                <a:solidFill>
                  <a:srgbClr val="3C3838"/>
                </a:solidFill>
                <a:latin typeface="Tahoma"/>
                <a:cs typeface="Tahoma"/>
              </a:rPr>
              <a:t>(Oylik</a:t>
            </a:r>
            <a:r>
              <a:rPr sz="2150" b="1" spc="85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2150" b="1" spc="80" dirty="0">
                <a:solidFill>
                  <a:srgbClr val="3C3838"/>
                </a:solidFill>
                <a:latin typeface="Tahoma"/>
                <a:cs typeface="Tahoma"/>
              </a:rPr>
              <a:t>Faol</a:t>
            </a:r>
            <a:r>
              <a:rPr sz="2150" b="1" spc="40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2150" b="1" spc="45" dirty="0">
                <a:solidFill>
                  <a:srgbClr val="3C3838"/>
                </a:solidFill>
                <a:latin typeface="Tahoma"/>
                <a:cs typeface="Tahoma"/>
              </a:rPr>
              <a:t>Foydalanuvchilar)</a:t>
            </a:r>
            <a:endParaRPr sz="21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725"/>
              </a:spcBef>
            </a:pPr>
            <a:r>
              <a:rPr sz="1850" spc="-10" dirty="0">
                <a:solidFill>
                  <a:srgbClr val="3C3838"/>
                </a:solidFill>
                <a:latin typeface="Tahoma"/>
                <a:cs typeface="Tahoma"/>
              </a:rPr>
              <a:t>Platformamizning</a:t>
            </a:r>
            <a:r>
              <a:rPr sz="1850" spc="-100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dirty="0">
                <a:solidFill>
                  <a:srgbClr val="3C3838"/>
                </a:solidFill>
                <a:latin typeface="Tahoma"/>
                <a:cs typeface="Tahoma"/>
              </a:rPr>
              <a:t>oylik</a:t>
            </a:r>
            <a:r>
              <a:rPr sz="1850" spc="-70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spc="-20" dirty="0">
                <a:solidFill>
                  <a:srgbClr val="3C3838"/>
                </a:solidFill>
                <a:latin typeface="Tahoma"/>
                <a:cs typeface="Tahoma"/>
              </a:rPr>
              <a:t>faol</a:t>
            </a:r>
            <a:r>
              <a:rPr sz="1850" spc="-165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spc="-10" dirty="0">
                <a:solidFill>
                  <a:srgbClr val="3C3838"/>
                </a:solidFill>
                <a:latin typeface="Tahoma"/>
                <a:cs typeface="Tahoma"/>
              </a:rPr>
              <a:t>foydalanuvchilari</a:t>
            </a:r>
            <a:r>
              <a:rPr sz="1850" spc="-135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spc="-10" dirty="0">
                <a:solidFill>
                  <a:srgbClr val="3C3838"/>
                </a:solidFill>
                <a:latin typeface="Tahoma"/>
                <a:cs typeface="Tahoma"/>
              </a:rPr>
              <a:t>soni.</a:t>
            </a:r>
            <a:endParaRPr sz="185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410450" y="2828035"/>
            <a:ext cx="6373495" cy="1459230"/>
            <a:chOff x="7410450" y="2828035"/>
            <a:chExt cx="6373495" cy="1459230"/>
          </a:xfrm>
        </p:grpSpPr>
        <p:sp>
          <p:nvSpPr>
            <p:cNvPr id="8" name="object 8"/>
            <p:cNvSpPr/>
            <p:nvPr/>
          </p:nvSpPr>
          <p:spPr>
            <a:xfrm>
              <a:off x="7443851" y="2843275"/>
              <a:ext cx="6324600" cy="1428750"/>
            </a:xfrm>
            <a:custGeom>
              <a:avLst/>
              <a:gdLst/>
              <a:ahLst/>
              <a:cxnLst/>
              <a:rect l="l" t="t" r="r" b="b"/>
              <a:pathLst>
                <a:path w="6324600" h="1428750">
                  <a:moveTo>
                    <a:pt x="0" y="146812"/>
                  </a:moveTo>
                  <a:lnTo>
                    <a:pt x="7477" y="100380"/>
                  </a:lnTo>
                  <a:lnTo>
                    <a:pt x="28305" y="60076"/>
                  </a:lnTo>
                  <a:lnTo>
                    <a:pt x="60076" y="28305"/>
                  </a:lnTo>
                  <a:lnTo>
                    <a:pt x="100380" y="7477"/>
                  </a:lnTo>
                  <a:lnTo>
                    <a:pt x="146812" y="0"/>
                  </a:lnTo>
                  <a:lnTo>
                    <a:pt x="6177660" y="0"/>
                  </a:lnTo>
                  <a:lnTo>
                    <a:pt x="6224105" y="7477"/>
                  </a:lnTo>
                  <a:lnTo>
                    <a:pt x="6264441" y="28305"/>
                  </a:lnTo>
                  <a:lnTo>
                    <a:pt x="6296249" y="60076"/>
                  </a:lnTo>
                  <a:lnTo>
                    <a:pt x="6317109" y="100380"/>
                  </a:lnTo>
                  <a:lnTo>
                    <a:pt x="6324600" y="146812"/>
                  </a:lnTo>
                  <a:lnTo>
                    <a:pt x="6324600" y="1281811"/>
                  </a:lnTo>
                  <a:lnTo>
                    <a:pt x="6317109" y="1328255"/>
                  </a:lnTo>
                  <a:lnTo>
                    <a:pt x="6296249" y="1368591"/>
                  </a:lnTo>
                  <a:lnTo>
                    <a:pt x="6264441" y="1400399"/>
                  </a:lnTo>
                  <a:lnTo>
                    <a:pt x="6224105" y="1421259"/>
                  </a:lnTo>
                  <a:lnTo>
                    <a:pt x="6177660" y="1428750"/>
                  </a:lnTo>
                  <a:lnTo>
                    <a:pt x="146812" y="1428750"/>
                  </a:lnTo>
                  <a:lnTo>
                    <a:pt x="100380" y="1421259"/>
                  </a:lnTo>
                  <a:lnTo>
                    <a:pt x="60076" y="1400399"/>
                  </a:lnTo>
                  <a:lnTo>
                    <a:pt x="28305" y="1368591"/>
                  </a:lnTo>
                  <a:lnTo>
                    <a:pt x="7477" y="1328255"/>
                  </a:lnTo>
                  <a:lnTo>
                    <a:pt x="0" y="1281811"/>
                  </a:lnTo>
                  <a:lnTo>
                    <a:pt x="0" y="146812"/>
                  </a:lnTo>
                  <a:close/>
                </a:path>
              </a:pathLst>
            </a:custGeom>
            <a:ln w="30480">
              <a:solidFill>
                <a:srgbClr val="D7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410450" y="2838449"/>
              <a:ext cx="123825" cy="1428750"/>
            </a:xfrm>
            <a:custGeom>
              <a:avLst/>
              <a:gdLst/>
              <a:ahLst/>
              <a:cxnLst/>
              <a:rect l="l" t="t" r="r" b="b"/>
              <a:pathLst>
                <a:path w="123825" h="1428750">
                  <a:moveTo>
                    <a:pt x="86232" y="0"/>
                  </a:moveTo>
                  <a:lnTo>
                    <a:pt x="37592" y="0"/>
                  </a:lnTo>
                  <a:lnTo>
                    <a:pt x="22985" y="2962"/>
                  </a:lnTo>
                  <a:lnTo>
                    <a:pt x="11033" y="11033"/>
                  </a:lnTo>
                  <a:lnTo>
                    <a:pt x="2962" y="22985"/>
                  </a:lnTo>
                  <a:lnTo>
                    <a:pt x="0" y="37591"/>
                  </a:lnTo>
                  <a:lnTo>
                    <a:pt x="0" y="1391158"/>
                  </a:lnTo>
                  <a:lnTo>
                    <a:pt x="2962" y="1405764"/>
                  </a:lnTo>
                  <a:lnTo>
                    <a:pt x="11033" y="1417716"/>
                  </a:lnTo>
                  <a:lnTo>
                    <a:pt x="22985" y="1425787"/>
                  </a:lnTo>
                  <a:lnTo>
                    <a:pt x="37592" y="1428750"/>
                  </a:lnTo>
                  <a:lnTo>
                    <a:pt x="86232" y="1428750"/>
                  </a:lnTo>
                  <a:lnTo>
                    <a:pt x="100839" y="1425787"/>
                  </a:lnTo>
                  <a:lnTo>
                    <a:pt x="112791" y="1417716"/>
                  </a:lnTo>
                  <a:lnTo>
                    <a:pt x="120862" y="1405764"/>
                  </a:lnTo>
                  <a:lnTo>
                    <a:pt x="123825" y="1391158"/>
                  </a:lnTo>
                  <a:lnTo>
                    <a:pt x="123825" y="37591"/>
                  </a:lnTo>
                  <a:lnTo>
                    <a:pt x="120862" y="22985"/>
                  </a:lnTo>
                  <a:lnTo>
                    <a:pt x="112791" y="11033"/>
                  </a:lnTo>
                  <a:lnTo>
                    <a:pt x="100839" y="2962"/>
                  </a:lnTo>
                  <a:lnTo>
                    <a:pt x="86232" y="0"/>
                  </a:lnTo>
                  <a:close/>
                </a:path>
              </a:pathLst>
            </a:custGeom>
            <a:solidFill>
              <a:srgbClr val="2C2D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799705" y="3100387"/>
            <a:ext cx="5325745" cy="85851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b="1" spc="90" dirty="0">
                <a:solidFill>
                  <a:srgbClr val="3C3838"/>
                </a:solidFill>
                <a:latin typeface="Tahoma"/>
                <a:cs typeface="Tahoma"/>
              </a:rPr>
              <a:t>ARR</a:t>
            </a:r>
            <a:r>
              <a:rPr sz="2150" b="1" spc="30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2150" b="1" dirty="0">
                <a:solidFill>
                  <a:srgbClr val="3C3838"/>
                </a:solidFill>
                <a:latin typeface="Tahoma"/>
                <a:cs typeface="Tahoma"/>
              </a:rPr>
              <a:t>(Yillik</a:t>
            </a:r>
            <a:r>
              <a:rPr sz="2150" b="1" spc="-35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2150" b="1" spc="50" dirty="0">
                <a:solidFill>
                  <a:srgbClr val="3C3838"/>
                </a:solidFill>
                <a:latin typeface="Tahoma"/>
                <a:cs typeface="Tahoma"/>
              </a:rPr>
              <a:t>Takroriy</a:t>
            </a:r>
            <a:r>
              <a:rPr sz="2150" b="1" spc="30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2150" b="1" spc="70" dirty="0">
                <a:solidFill>
                  <a:srgbClr val="3C3838"/>
                </a:solidFill>
                <a:latin typeface="Tahoma"/>
                <a:cs typeface="Tahoma"/>
              </a:rPr>
              <a:t>Daromad)</a:t>
            </a:r>
            <a:endParaRPr sz="21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725"/>
              </a:spcBef>
            </a:pPr>
            <a:r>
              <a:rPr sz="1850" spc="-10" dirty="0">
                <a:solidFill>
                  <a:srgbClr val="3C3838"/>
                </a:solidFill>
                <a:latin typeface="Tahoma"/>
                <a:cs typeface="Tahoma"/>
              </a:rPr>
              <a:t>Yillik</a:t>
            </a:r>
            <a:r>
              <a:rPr sz="1850" spc="-95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spc="-25" dirty="0">
                <a:solidFill>
                  <a:srgbClr val="3C3838"/>
                </a:solidFill>
                <a:latin typeface="Tahoma"/>
                <a:cs typeface="Tahoma"/>
              </a:rPr>
              <a:t>takroriy</a:t>
            </a:r>
            <a:r>
              <a:rPr sz="1850" spc="-125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spc="-10" dirty="0">
                <a:solidFill>
                  <a:srgbClr val="3C3838"/>
                </a:solidFill>
                <a:latin typeface="Tahoma"/>
                <a:cs typeface="Tahoma"/>
              </a:rPr>
              <a:t>daromadimizning</a:t>
            </a:r>
            <a:r>
              <a:rPr sz="1850" spc="-114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dirty="0">
                <a:solidFill>
                  <a:srgbClr val="3C3838"/>
                </a:solidFill>
                <a:latin typeface="Tahoma"/>
                <a:cs typeface="Tahoma"/>
              </a:rPr>
              <a:t>umumiy</a:t>
            </a:r>
            <a:r>
              <a:rPr sz="1850" spc="-120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spc="-10" dirty="0">
                <a:solidFill>
                  <a:srgbClr val="3C3838"/>
                </a:solidFill>
                <a:latin typeface="Tahoma"/>
                <a:cs typeface="Tahoma"/>
              </a:rPr>
              <a:t>ko‘rsatkichi.</a:t>
            </a:r>
            <a:endParaRPr sz="185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28675" y="4504435"/>
            <a:ext cx="6383020" cy="1449705"/>
            <a:chOff x="828675" y="4504435"/>
            <a:chExt cx="6383020" cy="1449705"/>
          </a:xfrm>
        </p:grpSpPr>
        <p:sp>
          <p:nvSpPr>
            <p:cNvPr id="12" name="object 12"/>
            <p:cNvSpPr/>
            <p:nvPr/>
          </p:nvSpPr>
          <p:spPr>
            <a:xfrm>
              <a:off x="871537" y="4519675"/>
              <a:ext cx="6325235" cy="1419225"/>
            </a:xfrm>
            <a:custGeom>
              <a:avLst/>
              <a:gdLst/>
              <a:ahLst/>
              <a:cxnLst/>
              <a:rect l="l" t="t" r="r" b="b"/>
              <a:pathLst>
                <a:path w="6325234" h="1419225">
                  <a:moveTo>
                    <a:pt x="0" y="145796"/>
                  </a:moveTo>
                  <a:lnTo>
                    <a:pt x="7437" y="99714"/>
                  </a:lnTo>
                  <a:lnTo>
                    <a:pt x="28147" y="59692"/>
                  </a:lnTo>
                  <a:lnTo>
                    <a:pt x="59727" y="28131"/>
                  </a:lnTo>
                  <a:lnTo>
                    <a:pt x="99774" y="7433"/>
                  </a:lnTo>
                  <a:lnTo>
                    <a:pt x="145884" y="0"/>
                  </a:lnTo>
                  <a:lnTo>
                    <a:pt x="6178740" y="0"/>
                  </a:lnTo>
                  <a:lnTo>
                    <a:pt x="6224835" y="7433"/>
                  </a:lnTo>
                  <a:lnTo>
                    <a:pt x="6264889" y="28131"/>
                  </a:lnTo>
                  <a:lnTo>
                    <a:pt x="6296487" y="59692"/>
                  </a:lnTo>
                  <a:lnTo>
                    <a:pt x="6317217" y="99714"/>
                  </a:lnTo>
                  <a:lnTo>
                    <a:pt x="6324663" y="145796"/>
                  </a:lnTo>
                  <a:lnTo>
                    <a:pt x="6324663" y="1273302"/>
                  </a:lnTo>
                  <a:lnTo>
                    <a:pt x="6317217" y="1319396"/>
                  </a:lnTo>
                  <a:lnTo>
                    <a:pt x="6296487" y="1359450"/>
                  </a:lnTo>
                  <a:lnTo>
                    <a:pt x="6264889" y="1391049"/>
                  </a:lnTo>
                  <a:lnTo>
                    <a:pt x="6224835" y="1411778"/>
                  </a:lnTo>
                  <a:lnTo>
                    <a:pt x="6178740" y="1419225"/>
                  </a:lnTo>
                  <a:lnTo>
                    <a:pt x="145884" y="1419225"/>
                  </a:lnTo>
                  <a:lnTo>
                    <a:pt x="99774" y="1411778"/>
                  </a:lnTo>
                  <a:lnTo>
                    <a:pt x="59727" y="1391049"/>
                  </a:lnTo>
                  <a:lnTo>
                    <a:pt x="28147" y="1359450"/>
                  </a:lnTo>
                  <a:lnTo>
                    <a:pt x="7437" y="1319396"/>
                  </a:lnTo>
                  <a:lnTo>
                    <a:pt x="0" y="1273302"/>
                  </a:lnTo>
                  <a:lnTo>
                    <a:pt x="0" y="145796"/>
                  </a:lnTo>
                  <a:close/>
                </a:path>
              </a:pathLst>
            </a:custGeom>
            <a:ln w="30480">
              <a:solidFill>
                <a:srgbClr val="D7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28675" y="4514849"/>
              <a:ext cx="123825" cy="1419225"/>
            </a:xfrm>
            <a:custGeom>
              <a:avLst/>
              <a:gdLst/>
              <a:ahLst/>
              <a:cxnLst/>
              <a:rect l="l" t="t" r="r" b="b"/>
              <a:pathLst>
                <a:path w="123825" h="1419225">
                  <a:moveTo>
                    <a:pt x="86220" y="0"/>
                  </a:moveTo>
                  <a:lnTo>
                    <a:pt x="37604" y="0"/>
                  </a:lnTo>
                  <a:lnTo>
                    <a:pt x="22968" y="2962"/>
                  </a:lnTo>
                  <a:lnTo>
                    <a:pt x="11015" y="11033"/>
                  </a:lnTo>
                  <a:lnTo>
                    <a:pt x="2955" y="22985"/>
                  </a:lnTo>
                  <a:lnTo>
                    <a:pt x="0" y="37591"/>
                  </a:lnTo>
                  <a:lnTo>
                    <a:pt x="0" y="1381633"/>
                  </a:lnTo>
                  <a:lnTo>
                    <a:pt x="2955" y="1396239"/>
                  </a:lnTo>
                  <a:lnTo>
                    <a:pt x="11015" y="1408191"/>
                  </a:lnTo>
                  <a:lnTo>
                    <a:pt x="22968" y="1416262"/>
                  </a:lnTo>
                  <a:lnTo>
                    <a:pt x="37604" y="1419225"/>
                  </a:lnTo>
                  <a:lnTo>
                    <a:pt x="86220" y="1419225"/>
                  </a:lnTo>
                  <a:lnTo>
                    <a:pt x="100856" y="1416262"/>
                  </a:lnTo>
                  <a:lnTo>
                    <a:pt x="112809" y="1408191"/>
                  </a:lnTo>
                  <a:lnTo>
                    <a:pt x="120869" y="1396239"/>
                  </a:lnTo>
                  <a:lnTo>
                    <a:pt x="123825" y="1381633"/>
                  </a:lnTo>
                  <a:lnTo>
                    <a:pt x="123825" y="37591"/>
                  </a:lnTo>
                  <a:lnTo>
                    <a:pt x="120869" y="22985"/>
                  </a:lnTo>
                  <a:lnTo>
                    <a:pt x="112809" y="11033"/>
                  </a:lnTo>
                  <a:lnTo>
                    <a:pt x="100856" y="2962"/>
                  </a:lnTo>
                  <a:lnTo>
                    <a:pt x="86220" y="0"/>
                  </a:lnTo>
                  <a:close/>
                </a:path>
              </a:pathLst>
            </a:custGeom>
            <a:solidFill>
              <a:srgbClr val="2C2D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51535" y="4772342"/>
            <a:ext cx="5731510" cy="1784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635">
              <a:lnSpc>
                <a:spcPct val="100000"/>
              </a:lnSpc>
              <a:spcBef>
                <a:spcPts val="125"/>
              </a:spcBef>
            </a:pPr>
            <a:r>
              <a:rPr sz="2150" b="1" spc="90" dirty="0">
                <a:solidFill>
                  <a:srgbClr val="3C3838"/>
                </a:solidFill>
                <a:latin typeface="Tahoma"/>
                <a:cs typeface="Tahoma"/>
              </a:rPr>
              <a:t>MRR</a:t>
            </a:r>
            <a:r>
              <a:rPr sz="2150" b="1" spc="30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2150" b="1" dirty="0">
                <a:solidFill>
                  <a:srgbClr val="3C3838"/>
                </a:solidFill>
                <a:latin typeface="Tahoma"/>
                <a:cs typeface="Tahoma"/>
              </a:rPr>
              <a:t>(Oylik</a:t>
            </a:r>
            <a:r>
              <a:rPr sz="2150" b="1" spc="130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2150" b="1" spc="50" dirty="0">
                <a:solidFill>
                  <a:srgbClr val="3C3838"/>
                </a:solidFill>
                <a:latin typeface="Tahoma"/>
                <a:cs typeface="Tahoma"/>
              </a:rPr>
              <a:t>Takroriy</a:t>
            </a:r>
            <a:r>
              <a:rPr sz="2150" b="1" spc="30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2150" b="1" spc="70" dirty="0">
                <a:solidFill>
                  <a:srgbClr val="3C3838"/>
                </a:solidFill>
                <a:latin typeface="Tahoma"/>
                <a:cs typeface="Tahoma"/>
              </a:rPr>
              <a:t>Daromad)</a:t>
            </a:r>
            <a:endParaRPr sz="2150">
              <a:latin typeface="Tahoma"/>
              <a:cs typeface="Tahoma"/>
            </a:endParaRPr>
          </a:p>
          <a:p>
            <a:pPr marL="381635">
              <a:lnSpc>
                <a:spcPct val="100000"/>
              </a:lnSpc>
              <a:spcBef>
                <a:spcPts val="1730"/>
              </a:spcBef>
            </a:pPr>
            <a:r>
              <a:rPr sz="1850" spc="-10" dirty="0">
                <a:solidFill>
                  <a:srgbClr val="3C3838"/>
                </a:solidFill>
                <a:latin typeface="Tahoma"/>
                <a:cs typeface="Tahoma"/>
              </a:rPr>
              <a:t>Oylik</a:t>
            </a:r>
            <a:r>
              <a:rPr sz="1850" spc="-114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spc="-25" dirty="0">
                <a:solidFill>
                  <a:srgbClr val="3C3838"/>
                </a:solidFill>
                <a:latin typeface="Tahoma"/>
                <a:cs typeface="Tahoma"/>
              </a:rPr>
              <a:t>takroriy</a:t>
            </a:r>
            <a:r>
              <a:rPr sz="1850" spc="-135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spc="-10" dirty="0">
                <a:solidFill>
                  <a:srgbClr val="3C3838"/>
                </a:solidFill>
                <a:latin typeface="Tahoma"/>
                <a:cs typeface="Tahoma"/>
              </a:rPr>
              <a:t>daromadimizning</a:t>
            </a:r>
            <a:r>
              <a:rPr sz="1850" spc="-130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dirty="0">
                <a:solidFill>
                  <a:srgbClr val="3C3838"/>
                </a:solidFill>
                <a:latin typeface="Tahoma"/>
                <a:cs typeface="Tahoma"/>
              </a:rPr>
              <a:t>umumiy</a:t>
            </a:r>
            <a:r>
              <a:rPr sz="1850" spc="-135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spc="-10" dirty="0">
                <a:solidFill>
                  <a:srgbClr val="3C3838"/>
                </a:solidFill>
                <a:latin typeface="Tahoma"/>
                <a:cs typeface="Tahoma"/>
              </a:rPr>
              <a:t>ko‘rsatkichi.</a:t>
            </a:r>
            <a:endParaRPr sz="18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8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18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50" b="1" spc="-85" dirty="0">
                <a:solidFill>
                  <a:srgbClr val="3C3838"/>
                </a:solidFill>
                <a:latin typeface="Tahoma"/>
                <a:cs typeface="Tahoma"/>
              </a:rPr>
              <a:t>…va</a:t>
            </a:r>
            <a:r>
              <a:rPr sz="1850" b="1" spc="-160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b="1" spc="-10" dirty="0">
                <a:solidFill>
                  <a:srgbClr val="3C3838"/>
                </a:solidFill>
                <a:latin typeface="Tahoma"/>
                <a:cs typeface="Tahoma"/>
              </a:rPr>
              <a:t>boshqalar</a:t>
            </a:r>
            <a:endParaRPr sz="185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410450" y="4504435"/>
            <a:ext cx="6373495" cy="1449705"/>
            <a:chOff x="7410450" y="4504435"/>
            <a:chExt cx="6373495" cy="1449705"/>
          </a:xfrm>
        </p:grpSpPr>
        <p:sp>
          <p:nvSpPr>
            <p:cNvPr id="16" name="object 16"/>
            <p:cNvSpPr/>
            <p:nvPr/>
          </p:nvSpPr>
          <p:spPr>
            <a:xfrm>
              <a:off x="7443851" y="4519675"/>
              <a:ext cx="6324600" cy="1419225"/>
            </a:xfrm>
            <a:custGeom>
              <a:avLst/>
              <a:gdLst/>
              <a:ahLst/>
              <a:cxnLst/>
              <a:rect l="l" t="t" r="r" b="b"/>
              <a:pathLst>
                <a:path w="6324600" h="1419225">
                  <a:moveTo>
                    <a:pt x="0" y="145796"/>
                  </a:moveTo>
                  <a:lnTo>
                    <a:pt x="7433" y="99714"/>
                  </a:lnTo>
                  <a:lnTo>
                    <a:pt x="28131" y="59692"/>
                  </a:lnTo>
                  <a:lnTo>
                    <a:pt x="59692" y="28131"/>
                  </a:lnTo>
                  <a:lnTo>
                    <a:pt x="99714" y="7433"/>
                  </a:lnTo>
                  <a:lnTo>
                    <a:pt x="145796" y="0"/>
                  </a:lnTo>
                  <a:lnTo>
                    <a:pt x="6178677" y="0"/>
                  </a:lnTo>
                  <a:lnTo>
                    <a:pt x="6224771" y="7433"/>
                  </a:lnTo>
                  <a:lnTo>
                    <a:pt x="6264825" y="28131"/>
                  </a:lnTo>
                  <a:lnTo>
                    <a:pt x="6296424" y="59692"/>
                  </a:lnTo>
                  <a:lnTo>
                    <a:pt x="6317153" y="99714"/>
                  </a:lnTo>
                  <a:lnTo>
                    <a:pt x="6324600" y="145796"/>
                  </a:lnTo>
                  <a:lnTo>
                    <a:pt x="6324600" y="1273302"/>
                  </a:lnTo>
                  <a:lnTo>
                    <a:pt x="6317153" y="1319396"/>
                  </a:lnTo>
                  <a:lnTo>
                    <a:pt x="6296424" y="1359450"/>
                  </a:lnTo>
                  <a:lnTo>
                    <a:pt x="6264825" y="1391049"/>
                  </a:lnTo>
                  <a:lnTo>
                    <a:pt x="6224771" y="1411778"/>
                  </a:lnTo>
                  <a:lnTo>
                    <a:pt x="6178677" y="1419225"/>
                  </a:lnTo>
                  <a:lnTo>
                    <a:pt x="145796" y="1419225"/>
                  </a:lnTo>
                  <a:lnTo>
                    <a:pt x="99714" y="1411778"/>
                  </a:lnTo>
                  <a:lnTo>
                    <a:pt x="59692" y="1391049"/>
                  </a:lnTo>
                  <a:lnTo>
                    <a:pt x="28131" y="1359450"/>
                  </a:lnTo>
                  <a:lnTo>
                    <a:pt x="7433" y="1319396"/>
                  </a:lnTo>
                  <a:lnTo>
                    <a:pt x="0" y="1273302"/>
                  </a:lnTo>
                  <a:lnTo>
                    <a:pt x="0" y="145796"/>
                  </a:lnTo>
                  <a:close/>
                </a:path>
              </a:pathLst>
            </a:custGeom>
            <a:ln w="30480">
              <a:solidFill>
                <a:srgbClr val="D7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410450" y="4514849"/>
              <a:ext cx="123825" cy="1419225"/>
            </a:xfrm>
            <a:custGeom>
              <a:avLst/>
              <a:gdLst/>
              <a:ahLst/>
              <a:cxnLst/>
              <a:rect l="l" t="t" r="r" b="b"/>
              <a:pathLst>
                <a:path w="123825" h="1419225">
                  <a:moveTo>
                    <a:pt x="86232" y="0"/>
                  </a:moveTo>
                  <a:lnTo>
                    <a:pt x="37592" y="0"/>
                  </a:lnTo>
                  <a:lnTo>
                    <a:pt x="22985" y="2962"/>
                  </a:lnTo>
                  <a:lnTo>
                    <a:pt x="11033" y="11033"/>
                  </a:lnTo>
                  <a:lnTo>
                    <a:pt x="2962" y="22985"/>
                  </a:lnTo>
                  <a:lnTo>
                    <a:pt x="0" y="37591"/>
                  </a:lnTo>
                  <a:lnTo>
                    <a:pt x="0" y="1381633"/>
                  </a:lnTo>
                  <a:lnTo>
                    <a:pt x="2962" y="1396239"/>
                  </a:lnTo>
                  <a:lnTo>
                    <a:pt x="11033" y="1408191"/>
                  </a:lnTo>
                  <a:lnTo>
                    <a:pt x="22985" y="1416262"/>
                  </a:lnTo>
                  <a:lnTo>
                    <a:pt x="37592" y="1419225"/>
                  </a:lnTo>
                  <a:lnTo>
                    <a:pt x="86232" y="1419225"/>
                  </a:lnTo>
                  <a:lnTo>
                    <a:pt x="100839" y="1416262"/>
                  </a:lnTo>
                  <a:lnTo>
                    <a:pt x="112791" y="1408191"/>
                  </a:lnTo>
                  <a:lnTo>
                    <a:pt x="120862" y="1396239"/>
                  </a:lnTo>
                  <a:lnTo>
                    <a:pt x="123825" y="1381633"/>
                  </a:lnTo>
                  <a:lnTo>
                    <a:pt x="123825" y="37591"/>
                  </a:lnTo>
                  <a:lnTo>
                    <a:pt x="120862" y="22985"/>
                  </a:lnTo>
                  <a:lnTo>
                    <a:pt x="112791" y="11033"/>
                  </a:lnTo>
                  <a:lnTo>
                    <a:pt x="100839" y="2962"/>
                  </a:lnTo>
                  <a:lnTo>
                    <a:pt x="86232" y="0"/>
                  </a:lnTo>
                  <a:close/>
                </a:path>
              </a:pathLst>
            </a:custGeom>
            <a:solidFill>
              <a:srgbClr val="2C2D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799705" y="4772342"/>
            <a:ext cx="5003165" cy="85851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b="1" spc="-10" dirty="0">
                <a:solidFill>
                  <a:srgbClr val="3C3838"/>
                </a:solidFill>
                <a:latin typeface="Tahoma"/>
                <a:cs typeface="Tahoma"/>
              </a:rPr>
              <a:t>NET/GROSS</a:t>
            </a:r>
            <a:endParaRPr sz="21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730"/>
              </a:spcBef>
            </a:pPr>
            <a:r>
              <a:rPr sz="1850" spc="-30" dirty="0">
                <a:solidFill>
                  <a:srgbClr val="3C3838"/>
                </a:solidFill>
                <a:latin typeface="Tahoma"/>
                <a:cs typeface="Tahoma"/>
              </a:rPr>
              <a:t>Sof</a:t>
            </a:r>
            <a:r>
              <a:rPr sz="1850" spc="-110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spc="-80" dirty="0">
                <a:solidFill>
                  <a:srgbClr val="3C3838"/>
                </a:solidFill>
                <a:latin typeface="Tahoma"/>
                <a:cs typeface="Tahoma"/>
              </a:rPr>
              <a:t>va</a:t>
            </a:r>
            <a:r>
              <a:rPr sz="1850" spc="-135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spc="-20" dirty="0">
                <a:solidFill>
                  <a:srgbClr val="3C3838"/>
                </a:solidFill>
                <a:latin typeface="Tahoma"/>
                <a:cs typeface="Tahoma"/>
              </a:rPr>
              <a:t>yalpi</a:t>
            </a:r>
            <a:r>
              <a:rPr sz="1850" spc="-95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spc="-20" dirty="0">
                <a:solidFill>
                  <a:srgbClr val="3C3838"/>
                </a:solidFill>
                <a:latin typeface="Tahoma"/>
                <a:cs typeface="Tahoma"/>
              </a:rPr>
              <a:t>daromad</a:t>
            </a:r>
            <a:r>
              <a:rPr sz="1850" spc="-160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dirty="0">
                <a:solidFill>
                  <a:srgbClr val="3C3838"/>
                </a:solidFill>
                <a:latin typeface="Tahoma"/>
                <a:cs typeface="Tahoma"/>
              </a:rPr>
              <a:t>ko‘rsatkichlari</a:t>
            </a:r>
            <a:r>
              <a:rPr sz="1850" spc="-100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spc="-80" dirty="0">
                <a:solidFill>
                  <a:srgbClr val="3C3838"/>
                </a:solidFill>
                <a:latin typeface="Tahoma"/>
                <a:cs typeface="Tahoma"/>
              </a:rPr>
              <a:t>va</a:t>
            </a:r>
            <a:r>
              <a:rPr sz="1850" spc="-130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spc="-10" dirty="0">
                <a:solidFill>
                  <a:srgbClr val="3C3838"/>
                </a:solidFill>
                <a:latin typeface="Tahoma"/>
                <a:cs typeface="Tahoma"/>
              </a:rPr>
              <a:t>boshqalar.</a:t>
            </a:r>
            <a:endParaRPr sz="18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1535" y="1053846"/>
            <a:ext cx="1974850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pc="170" dirty="0" smtClean="0"/>
              <a:t>Team</a:t>
            </a:r>
            <a:endParaRPr spc="170" dirty="0"/>
          </a:p>
        </p:txBody>
      </p:sp>
      <p:sp>
        <p:nvSpPr>
          <p:cNvPr id="3" name="object 3"/>
          <p:cNvSpPr txBox="1"/>
          <p:nvPr/>
        </p:nvSpPr>
        <p:spPr>
          <a:xfrm>
            <a:off x="851535" y="2326322"/>
            <a:ext cx="5353685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1850" spc="-10" dirty="0" smtClean="0">
                <a:solidFill>
                  <a:srgbClr val="3C3838"/>
                </a:solidFill>
                <a:latin typeface="Tahoma"/>
                <a:cs typeface="Tahoma"/>
              </a:rPr>
              <a:t>Founders and management of our company.</a:t>
            </a:r>
            <a:endParaRPr sz="1850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6775" y="2943225"/>
            <a:ext cx="2990850" cy="300037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51535" y="6162738"/>
            <a:ext cx="2137410" cy="93789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00" b="1" spc="-20" dirty="0">
                <a:solidFill>
                  <a:srgbClr val="3C3838"/>
                </a:solidFill>
                <a:latin typeface="Tahoma"/>
                <a:cs typeface="Tahoma"/>
              </a:rPr>
              <a:t>Ismi</a:t>
            </a:r>
            <a:endParaRPr sz="2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15"/>
              </a:spcBef>
            </a:pPr>
            <a:r>
              <a:rPr sz="1850" spc="-25" dirty="0">
                <a:solidFill>
                  <a:srgbClr val="3C3838"/>
                </a:solidFill>
                <a:latin typeface="Tahoma"/>
                <a:cs typeface="Tahoma"/>
              </a:rPr>
              <a:t>Vazifasi</a:t>
            </a:r>
            <a:r>
              <a:rPr sz="1850" spc="-195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spc="-65" dirty="0">
                <a:solidFill>
                  <a:srgbClr val="3C3838"/>
                </a:solidFill>
                <a:latin typeface="Tahoma"/>
                <a:cs typeface="Tahoma"/>
              </a:rPr>
              <a:t>/</a:t>
            </a:r>
            <a:r>
              <a:rPr sz="1850" spc="-165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spc="-95" dirty="0">
                <a:solidFill>
                  <a:srgbClr val="3C3838"/>
                </a:solidFill>
                <a:latin typeface="Tahoma"/>
                <a:cs typeface="Tahoma"/>
              </a:rPr>
              <a:t>Ish</a:t>
            </a:r>
            <a:r>
              <a:rPr sz="1850" spc="-150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spc="-10" dirty="0">
                <a:solidFill>
                  <a:srgbClr val="3C3838"/>
                </a:solidFill>
                <a:latin typeface="Tahoma"/>
                <a:cs typeface="Tahoma"/>
              </a:rPr>
              <a:t>tajribasi</a:t>
            </a:r>
            <a:endParaRPr sz="185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62425" y="2943225"/>
            <a:ext cx="3000375" cy="300037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156709" y="6162738"/>
            <a:ext cx="2110105" cy="93789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00" b="1" spc="-20" dirty="0">
                <a:solidFill>
                  <a:srgbClr val="3C3838"/>
                </a:solidFill>
                <a:latin typeface="Tahoma"/>
                <a:cs typeface="Tahoma"/>
              </a:rPr>
              <a:t>Ismi</a:t>
            </a:r>
            <a:endParaRPr sz="2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15"/>
              </a:spcBef>
            </a:pPr>
            <a:r>
              <a:rPr sz="1850" spc="-40" dirty="0">
                <a:solidFill>
                  <a:srgbClr val="3C3838"/>
                </a:solidFill>
                <a:latin typeface="Tahoma"/>
                <a:cs typeface="Tahoma"/>
              </a:rPr>
              <a:t>Vazifasi</a:t>
            </a:r>
            <a:r>
              <a:rPr sz="1850" spc="-185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spc="-65" dirty="0">
                <a:solidFill>
                  <a:srgbClr val="3C3838"/>
                </a:solidFill>
                <a:latin typeface="Tahoma"/>
                <a:cs typeface="Tahoma"/>
              </a:rPr>
              <a:t>/</a:t>
            </a:r>
            <a:r>
              <a:rPr sz="1850" spc="-160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spc="-100" dirty="0">
                <a:solidFill>
                  <a:srgbClr val="3C3838"/>
                </a:solidFill>
                <a:latin typeface="Tahoma"/>
                <a:cs typeface="Tahoma"/>
              </a:rPr>
              <a:t>Ish</a:t>
            </a:r>
            <a:r>
              <a:rPr sz="1850" spc="-145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spc="-10" dirty="0">
                <a:solidFill>
                  <a:srgbClr val="3C3838"/>
                </a:solidFill>
                <a:latin typeface="Tahoma"/>
                <a:cs typeface="Tahoma"/>
              </a:rPr>
              <a:t>tajribasi</a:t>
            </a:r>
            <a:endParaRPr sz="185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67600" y="2943225"/>
            <a:ext cx="3000375" cy="300037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461631" y="6162738"/>
            <a:ext cx="2110105" cy="93789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00" b="1" spc="-20" dirty="0">
                <a:solidFill>
                  <a:srgbClr val="3C3838"/>
                </a:solidFill>
                <a:latin typeface="Tahoma"/>
                <a:cs typeface="Tahoma"/>
              </a:rPr>
              <a:t>Ismi</a:t>
            </a:r>
            <a:endParaRPr sz="2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15"/>
              </a:spcBef>
            </a:pPr>
            <a:r>
              <a:rPr sz="1850" spc="-40" dirty="0">
                <a:solidFill>
                  <a:srgbClr val="3C3838"/>
                </a:solidFill>
                <a:latin typeface="Tahoma"/>
                <a:cs typeface="Tahoma"/>
              </a:rPr>
              <a:t>Vazifasi</a:t>
            </a:r>
            <a:r>
              <a:rPr sz="1850" spc="-185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spc="-65" dirty="0">
                <a:solidFill>
                  <a:srgbClr val="3C3838"/>
                </a:solidFill>
                <a:latin typeface="Tahoma"/>
                <a:cs typeface="Tahoma"/>
              </a:rPr>
              <a:t>/</a:t>
            </a:r>
            <a:r>
              <a:rPr sz="1850" spc="-160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spc="-100" dirty="0">
                <a:solidFill>
                  <a:srgbClr val="3C3838"/>
                </a:solidFill>
                <a:latin typeface="Tahoma"/>
                <a:cs typeface="Tahoma"/>
              </a:rPr>
              <a:t>Ish</a:t>
            </a:r>
            <a:r>
              <a:rPr sz="1850" spc="-145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spc="-10" dirty="0">
                <a:solidFill>
                  <a:srgbClr val="3C3838"/>
                </a:solidFill>
                <a:latin typeface="Tahoma"/>
                <a:cs typeface="Tahoma"/>
              </a:rPr>
              <a:t>tajribasi</a:t>
            </a:r>
            <a:endParaRPr sz="185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72775" y="2943225"/>
            <a:ext cx="2990850" cy="300037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0766425" y="6162421"/>
            <a:ext cx="2080895" cy="9385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600" b="1" spc="-20" dirty="0">
                <a:solidFill>
                  <a:srgbClr val="3C3838"/>
                </a:solidFill>
                <a:latin typeface="Tahoma"/>
                <a:cs typeface="Tahoma"/>
              </a:rPr>
              <a:t>Ismi</a:t>
            </a:r>
            <a:endParaRPr sz="2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sz="1850" spc="-35" dirty="0">
                <a:solidFill>
                  <a:srgbClr val="3C3838"/>
                </a:solidFill>
                <a:latin typeface="Tahoma"/>
                <a:cs typeface="Tahoma"/>
              </a:rPr>
              <a:t>Vazifasi/</a:t>
            </a:r>
            <a:r>
              <a:rPr sz="1850" spc="-150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spc="-100" dirty="0">
                <a:solidFill>
                  <a:srgbClr val="3C3838"/>
                </a:solidFill>
                <a:latin typeface="Tahoma"/>
                <a:cs typeface="Tahoma"/>
              </a:rPr>
              <a:t>Ish</a:t>
            </a:r>
            <a:r>
              <a:rPr sz="1850" spc="-135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spc="-10" dirty="0">
                <a:solidFill>
                  <a:srgbClr val="3C3838"/>
                </a:solidFill>
                <a:latin typeface="Tahoma"/>
                <a:cs typeface="Tahoma"/>
              </a:rPr>
              <a:t>tajribasi</a:t>
            </a:r>
            <a:endParaRPr sz="18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5977" y="625856"/>
            <a:ext cx="5336223" cy="67069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4250" dirty="0" smtClean="0"/>
              <a:t>Offer to Investors</a:t>
            </a:r>
            <a:endParaRPr sz="4250" dirty="0"/>
          </a:p>
        </p:txBody>
      </p:sp>
      <p:sp>
        <p:nvSpPr>
          <p:cNvPr id="3" name="object 3"/>
          <p:cNvSpPr/>
          <p:nvPr/>
        </p:nvSpPr>
        <p:spPr>
          <a:xfrm>
            <a:off x="847725" y="1838325"/>
            <a:ext cx="4191000" cy="723900"/>
          </a:xfrm>
          <a:custGeom>
            <a:avLst/>
            <a:gdLst/>
            <a:ahLst/>
            <a:cxnLst/>
            <a:rect l="l" t="t" r="r" b="b"/>
            <a:pathLst>
              <a:path w="4191000" h="723900">
                <a:moveTo>
                  <a:pt x="3829050" y="0"/>
                </a:moveTo>
                <a:lnTo>
                  <a:pt x="361950" y="0"/>
                </a:lnTo>
                <a:lnTo>
                  <a:pt x="312835" y="3304"/>
                </a:lnTo>
                <a:lnTo>
                  <a:pt x="265729" y="12929"/>
                </a:lnTo>
                <a:lnTo>
                  <a:pt x="221063" y="28444"/>
                </a:lnTo>
                <a:lnTo>
                  <a:pt x="179267" y="49417"/>
                </a:lnTo>
                <a:lnTo>
                  <a:pt x="140773" y="75417"/>
                </a:lnTo>
                <a:lnTo>
                  <a:pt x="106013" y="106013"/>
                </a:lnTo>
                <a:lnTo>
                  <a:pt x="75417" y="140773"/>
                </a:lnTo>
                <a:lnTo>
                  <a:pt x="49417" y="179267"/>
                </a:lnTo>
                <a:lnTo>
                  <a:pt x="28444" y="221063"/>
                </a:lnTo>
                <a:lnTo>
                  <a:pt x="12929" y="265729"/>
                </a:lnTo>
                <a:lnTo>
                  <a:pt x="3304" y="312835"/>
                </a:lnTo>
                <a:lnTo>
                  <a:pt x="0" y="361950"/>
                </a:lnTo>
                <a:lnTo>
                  <a:pt x="3304" y="411064"/>
                </a:lnTo>
                <a:lnTo>
                  <a:pt x="12929" y="458170"/>
                </a:lnTo>
                <a:lnTo>
                  <a:pt x="28444" y="502836"/>
                </a:lnTo>
                <a:lnTo>
                  <a:pt x="49417" y="544632"/>
                </a:lnTo>
                <a:lnTo>
                  <a:pt x="75417" y="583126"/>
                </a:lnTo>
                <a:lnTo>
                  <a:pt x="106013" y="617886"/>
                </a:lnTo>
                <a:lnTo>
                  <a:pt x="140773" y="648482"/>
                </a:lnTo>
                <a:lnTo>
                  <a:pt x="179267" y="674482"/>
                </a:lnTo>
                <a:lnTo>
                  <a:pt x="221063" y="695455"/>
                </a:lnTo>
                <a:lnTo>
                  <a:pt x="265729" y="710970"/>
                </a:lnTo>
                <a:lnTo>
                  <a:pt x="312835" y="720595"/>
                </a:lnTo>
                <a:lnTo>
                  <a:pt x="361950" y="723900"/>
                </a:lnTo>
                <a:lnTo>
                  <a:pt x="3829050" y="723900"/>
                </a:lnTo>
                <a:lnTo>
                  <a:pt x="3878164" y="720595"/>
                </a:lnTo>
                <a:lnTo>
                  <a:pt x="3925270" y="710970"/>
                </a:lnTo>
                <a:lnTo>
                  <a:pt x="3969936" y="695455"/>
                </a:lnTo>
                <a:lnTo>
                  <a:pt x="4011732" y="674482"/>
                </a:lnTo>
                <a:lnTo>
                  <a:pt x="4050226" y="648482"/>
                </a:lnTo>
                <a:lnTo>
                  <a:pt x="4084986" y="617886"/>
                </a:lnTo>
                <a:lnTo>
                  <a:pt x="4115582" y="583126"/>
                </a:lnTo>
                <a:lnTo>
                  <a:pt x="4141582" y="544632"/>
                </a:lnTo>
                <a:lnTo>
                  <a:pt x="4162555" y="502836"/>
                </a:lnTo>
                <a:lnTo>
                  <a:pt x="4178070" y="458170"/>
                </a:lnTo>
                <a:lnTo>
                  <a:pt x="4187695" y="411064"/>
                </a:lnTo>
                <a:lnTo>
                  <a:pt x="4191000" y="361950"/>
                </a:lnTo>
                <a:lnTo>
                  <a:pt x="4187695" y="312835"/>
                </a:lnTo>
                <a:lnTo>
                  <a:pt x="4178070" y="265729"/>
                </a:lnTo>
                <a:lnTo>
                  <a:pt x="4162555" y="221063"/>
                </a:lnTo>
                <a:lnTo>
                  <a:pt x="4141582" y="179267"/>
                </a:lnTo>
                <a:lnTo>
                  <a:pt x="4115582" y="140773"/>
                </a:lnTo>
                <a:lnTo>
                  <a:pt x="4084986" y="106013"/>
                </a:lnTo>
                <a:lnTo>
                  <a:pt x="4050226" y="75417"/>
                </a:lnTo>
                <a:lnTo>
                  <a:pt x="4011732" y="49417"/>
                </a:lnTo>
                <a:lnTo>
                  <a:pt x="3969936" y="28444"/>
                </a:lnTo>
                <a:lnTo>
                  <a:pt x="3925270" y="12929"/>
                </a:lnTo>
                <a:lnTo>
                  <a:pt x="3878164" y="3304"/>
                </a:lnTo>
                <a:lnTo>
                  <a:pt x="3829050" y="0"/>
                </a:lnTo>
                <a:close/>
              </a:path>
            </a:pathLst>
          </a:custGeom>
          <a:solidFill>
            <a:srgbClr val="F1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750566" y="1879663"/>
            <a:ext cx="167640" cy="460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50" b="1" spc="-760" dirty="0">
                <a:solidFill>
                  <a:srgbClr val="3C3838"/>
                </a:solidFill>
                <a:latin typeface="Tahoma"/>
                <a:cs typeface="Tahoma"/>
              </a:rPr>
              <a:t>1</a:t>
            </a:r>
            <a:endParaRPr sz="285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8547" y="2779966"/>
            <a:ext cx="3046730" cy="12312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b="1" dirty="0">
                <a:solidFill>
                  <a:srgbClr val="3C3838"/>
                </a:solidFill>
                <a:latin typeface="Tahoma"/>
                <a:cs typeface="Tahoma"/>
              </a:rPr>
              <a:t>Investitsiya</a:t>
            </a:r>
            <a:r>
              <a:rPr sz="2150" b="1" spc="-90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2150" b="1" spc="-20" dirty="0">
                <a:solidFill>
                  <a:srgbClr val="3C3838"/>
                </a:solidFill>
                <a:latin typeface="Tahoma"/>
                <a:cs typeface="Tahoma"/>
              </a:rPr>
              <a:t>Hajmi</a:t>
            </a:r>
            <a:endParaRPr sz="2150">
              <a:latin typeface="Tahoma"/>
              <a:cs typeface="Tahoma"/>
            </a:endParaRPr>
          </a:p>
          <a:p>
            <a:pPr marL="12700" marR="5080">
              <a:lnSpc>
                <a:spcPct val="132000"/>
              </a:lnSpc>
              <a:spcBef>
                <a:spcPts val="1019"/>
              </a:spcBef>
            </a:pPr>
            <a:r>
              <a:rPr sz="1850" spc="-40" dirty="0">
                <a:solidFill>
                  <a:srgbClr val="3C3838"/>
                </a:solidFill>
                <a:latin typeface="Tahoma"/>
                <a:cs typeface="Tahoma"/>
              </a:rPr>
              <a:t>Talab</a:t>
            </a:r>
            <a:r>
              <a:rPr sz="1850" spc="-175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spc="-10" dirty="0">
                <a:solidFill>
                  <a:srgbClr val="3C3838"/>
                </a:solidFill>
                <a:latin typeface="Tahoma"/>
                <a:cs typeface="Tahoma"/>
              </a:rPr>
              <a:t>qilinayotgan</a:t>
            </a:r>
            <a:r>
              <a:rPr sz="1850" spc="-165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spc="-20" dirty="0">
                <a:solidFill>
                  <a:srgbClr val="3C3838"/>
                </a:solidFill>
                <a:latin typeface="Tahoma"/>
                <a:cs typeface="Tahoma"/>
              </a:rPr>
              <a:t>investitsiya </a:t>
            </a:r>
            <a:r>
              <a:rPr sz="1850" spc="-10" dirty="0">
                <a:solidFill>
                  <a:srgbClr val="3C3838"/>
                </a:solidFill>
                <a:latin typeface="Tahoma"/>
                <a:cs typeface="Tahoma"/>
              </a:rPr>
              <a:t>miqdori.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219700" y="1838325"/>
            <a:ext cx="4191000" cy="723900"/>
          </a:xfrm>
          <a:custGeom>
            <a:avLst/>
            <a:gdLst/>
            <a:ahLst/>
            <a:cxnLst/>
            <a:rect l="l" t="t" r="r" b="b"/>
            <a:pathLst>
              <a:path w="4191000" h="723900">
                <a:moveTo>
                  <a:pt x="3829050" y="0"/>
                </a:moveTo>
                <a:lnTo>
                  <a:pt x="361950" y="0"/>
                </a:lnTo>
                <a:lnTo>
                  <a:pt x="312835" y="3304"/>
                </a:lnTo>
                <a:lnTo>
                  <a:pt x="265729" y="12929"/>
                </a:lnTo>
                <a:lnTo>
                  <a:pt x="221063" y="28444"/>
                </a:lnTo>
                <a:lnTo>
                  <a:pt x="179267" y="49417"/>
                </a:lnTo>
                <a:lnTo>
                  <a:pt x="140773" y="75417"/>
                </a:lnTo>
                <a:lnTo>
                  <a:pt x="106013" y="106013"/>
                </a:lnTo>
                <a:lnTo>
                  <a:pt x="75417" y="140773"/>
                </a:lnTo>
                <a:lnTo>
                  <a:pt x="49417" y="179267"/>
                </a:lnTo>
                <a:lnTo>
                  <a:pt x="28444" y="221063"/>
                </a:lnTo>
                <a:lnTo>
                  <a:pt x="12929" y="265729"/>
                </a:lnTo>
                <a:lnTo>
                  <a:pt x="3304" y="312835"/>
                </a:lnTo>
                <a:lnTo>
                  <a:pt x="0" y="361950"/>
                </a:lnTo>
                <a:lnTo>
                  <a:pt x="3304" y="411064"/>
                </a:lnTo>
                <a:lnTo>
                  <a:pt x="12929" y="458170"/>
                </a:lnTo>
                <a:lnTo>
                  <a:pt x="28444" y="502836"/>
                </a:lnTo>
                <a:lnTo>
                  <a:pt x="49417" y="544632"/>
                </a:lnTo>
                <a:lnTo>
                  <a:pt x="75417" y="583126"/>
                </a:lnTo>
                <a:lnTo>
                  <a:pt x="106013" y="617886"/>
                </a:lnTo>
                <a:lnTo>
                  <a:pt x="140773" y="648482"/>
                </a:lnTo>
                <a:lnTo>
                  <a:pt x="179267" y="674482"/>
                </a:lnTo>
                <a:lnTo>
                  <a:pt x="221063" y="695455"/>
                </a:lnTo>
                <a:lnTo>
                  <a:pt x="265729" y="710970"/>
                </a:lnTo>
                <a:lnTo>
                  <a:pt x="312835" y="720595"/>
                </a:lnTo>
                <a:lnTo>
                  <a:pt x="361950" y="723900"/>
                </a:lnTo>
                <a:lnTo>
                  <a:pt x="3829050" y="723900"/>
                </a:lnTo>
                <a:lnTo>
                  <a:pt x="3878164" y="720595"/>
                </a:lnTo>
                <a:lnTo>
                  <a:pt x="3925270" y="710970"/>
                </a:lnTo>
                <a:lnTo>
                  <a:pt x="3969936" y="695455"/>
                </a:lnTo>
                <a:lnTo>
                  <a:pt x="4011732" y="674482"/>
                </a:lnTo>
                <a:lnTo>
                  <a:pt x="4050226" y="648482"/>
                </a:lnTo>
                <a:lnTo>
                  <a:pt x="4084986" y="617886"/>
                </a:lnTo>
                <a:lnTo>
                  <a:pt x="4115582" y="583126"/>
                </a:lnTo>
                <a:lnTo>
                  <a:pt x="4141582" y="544632"/>
                </a:lnTo>
                <a:lnTo>
                  <a:pt x="4162555" y="502836"/>
                </a:lnTo>
                <a:lnTo>
                  <a:pt x="4178070" y="458170"/>
                </a:lnTo>
                <a:lnTo>
                  <a:pt x="4187695" y="411064"/>
                </a:lnTo>
                <a:lnTo>
                  <a:pt x="4191000" y="361950"/>
                </a:lnTo>
                <a:lnTo>
                  <a:pt x="4187695" y="312835"/>
                </a:lnTo>
                <a:lnTo>
                  <a:pt x="4178070" y="265729"/>
                </a:lnTo>
                <a:lnTo>
                  <a:pt x="4162555" y="221063"/>
                </a:lnTo>
                <a:lnTo>
                  <a:pt x="4141582" y="179267"/>
                </a:lnTo>
                <a:lnTo>
                  <a:pt x="4115582" y="140773"/>
                </a:lnTo>
                <a:lnTo>
                  <a:pt x="4084986" y="106013"/>
                </a:lnTo>
                <a:lnTo>
                  <a:pt x="4050226" y="75417"/>
                </a:lnTo>
                <a:lnTo>
                  <a:pt x="4011732" y="49417"/>
                </a:lnTo>
                <a:lnTo>
                  <a:pt x="3969936" y="28444"/>
                </a:lnTo>
                <a:lnTo>
                  <a:pt x="3925270" y="12929"/>
                </a:lnTo>
                <a:lnTo>
                  <a:pt x="3878164" y="3304"/>
                </a:lnTo>
                <a:lnTo>
                  <a:pt x="3829050" y="0"/>
                </a:lnTo>
                <a:close/>
              </a:path>
            </a:pathLst>
          </a:custGeom>
          <a:solidFill>
            <a:srgbClr val="F1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125334" y="1879663"/>
            <a:ext cx="239395" cy="460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50" b="1" spc="-85" dirty="0">
                <a:solidFill>
                  <a:srgbClr val="3C3838"/>
                </a:solidFill>
                <a:latin typeface="Tahoma"/>
                <a:cs typeface="Tahoma"/>
              </a:rPr>
              <a:t>2</a:t>
            </a:r>
            <a:endParaRPr sz="28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53126" y="2779966"/>
            <a:ext cx="3621404" cy="15760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b="1" dirty="0">
                <a:solidFill>
                  <a:srgbClr val="3C3838"/>
                </a:solidFill>
                <a:latin typeface="Tahoma"/>
                <a:cs typeface="Tahoma"/>
              </a:rPr>
              <a:t>Investitsiyani</a:t>
            </a:r>
            <a:r>
              <a:rPr sz="2150" b="1" spc="-10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2150" b="1" spc="35" dirty="0">
                <a:solidFill>
                  <a:srgbClr val="3C3838"/>
                </a:solidFill>
                <a:latin typeface="Tahoma"/>
                <a:cs typeface="Tahoma"/>
              </a:rPr>
              <a:t>Taqsimlash</a:t>
            </a:r>
            <a:endParaRPr sz="21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b="1" spc="-400" dirty="0">
                <a:solidFill>
                  <a:srgbClr val="3C3838"/>
                </a:solidFill>
                <a:latin typeface="Tahoma"/>
                <a:cs typeface="Tahoma"/>
              </a:rPr>
              <a:t>/</a:t>
            </a:r>
            <a:r>
              <a:rPr sz="2150" b="1" spc="-60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2150" b="1" spc="-10" dirty="0">
                <a:solidFill>
                  <a:srgbClr val="3C3838"/>
                </a:solidFill>
                <a:latin typeface="Tahoma"/>
                <a:cs typeface="Tahoma"/>
              </a:rPr>
              <a:t>Yo'naltirish</a:t>
            </a:r>
            <a:endParaRPr sz="2150">
              <a:latin typeface="Tahoma"/>
              <a:cs typeface="Tahoma"/>
            </a:endParaRPr>
          </a:p>
          <a:p>
            <a:pPr marL="12700" marR="1033144">
              <a:lnSpc>
                <a:spcPct val="131800"/>
              </a:lnSpc>
              <a:spcBef>
                <a:spcPts val="1035"/>
              </a:spcBef>
            </a:pPr>
            <a:r>
              <a:rPr sz="1850" dirty="0">
                <a:solidFill>
                  <a:srgbClr val="3C3838"/>
                </a:solidFill>
                <a:latin typeface="Tahoma"/>
                <a:cs typeface="Tahoma"/>
              </a:rPr>
              <a:t>Mablag'larning</a:t>
            </a:r>
            <a:r>
              <a:rPr sz="1850" spc="-175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spc="-10" dirty="0">
                <a:solidFill>
                  <a:srgbClr val="3C3838"/>
                </a:solidFill>
                <a:latin typeface="Tahoma"/>
                <a:cs typeface="Tahoma"/>
              </a:rPr>
              <a:t>qanday yo‘nalishlarga</a:t>
            </a:r>
            <a:r>
              <a:rPr sz="1850" spc="-100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spc="-10" dirty="0">
                <a:solidFill>
                  <a:srgbClr val="3C3838"/>
                </a:solidFill>
                <a:latin typeface="Tahoma"/>
                <a:cs typeface="Tahoma"/>
              </a:rPr>
              <a:t>sarflanishi.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591675" y="1838325"/>
            <a:ext cx="4191000" cy="723900"/>
          </a:xfrm>
          <a:custGeom>
            <a:avLst/>
            <a:gdLst/>
            <a:ahLst/>
            <a:cxnLst/>
            <a:rect l="l" t="t" r="r" b="b"/>
            <a:pathLst>
              <a:path w="4191000" h="723900">
                <a:moveTo>
                  <a:pt x="3829050" y="0"/>
                </a:moveTo>
                <a:lnTo>
                  <a:pt x="361950" y="0"/>
                </a:lnTo>
                <a:lnTo>
                  <a:pt x="312835" y="3304"/>
                </a:lnTo>
                <a:lnTo>
                  <a:pt x="265729" y="12929"/>
                </a:lnTo>
                <a:lnTo>
                  <a:pt x="221063" y="28444"/>
                </a:lnTo>
                <a:lnTo>
                  <a:pt x="179267" y="49417"/>
                </a:lnTo>
                <a:lnTo>
                  <a:pt x="140773" y="75417"/>
                </a:lnTo>
                <a:lnTo>
                  <a:pt x="106013" y="106013"/>
                </a:lnTo>
                <a:lnTo>
                  <a:pt x="75417" y="140773"/>
                </a:lnTo>
                <a:lnTo>
                  <a:pt x="49417" y="179267"/>
                </a:lnTo>
                <a:lnTo>
                  <a:pt x="28444" y="221063"/>
                </a:lnTo>
                <a:lnTo>
                  <a:pt x="12929" y="265729"/>
                </a:lnTo>
                <a:lnTo>
                  <a:pt x="3304" y="312835"/>
                </a:lnTo>
                <a:lnTo>
                  <a:pt x="0" y="361950"/>
                </a:lnTo>
                <a:lnTo>
                  <a:pt x="3304" y="411064"/>
                </a:lnTo>
                <a:lnTo>
                  <a:pt x="12929" y="458170"/>
                </a:lnTo>
                <a:lnTo>
                  <a:pt x="28444" y="502836"/>
                </a:lnTo>
                <a:lnTo>
                  <a:pt x="49417" y="544632"/>
                </a:lnTo>
                <a:lnTo>
                  <a:pt x="75417" y="583126"/>
                </a:lnTo>
                <a:lnTo>
                  <a:pt x="106013" y="617886"/>
                </a:lnTo>
                <a:lnTo>
                  <a:pt x="140773" y="648482"/>
                </a:lnTo>
                <a:lnTo>
                  <a:pt x="179267" y="674482"/>
                </a:lnTo>
                <a:lnTo>
                  <a:pt x="221063" y="695455"/>
                </a:lnTo>
                <a:lnTo>
                  <a:pt x="265729" y="710970"/>
                </a:lnTo>
                <a:lnTo>
                  <a:pt x="312835" y="720595"/>
                </a:lnTo>
                <a:lnTo>
                  <a:pt x="361950" y="723900"/>
                </a:lnTo>
                <a:lnTo>
                  <a:pt x="3829050" y="723900"/>
                </a:lnTo>
                <a:lnTo>
                  <a:pt x="3878164" y="720595"/>
                </a:lnTo>
                <a:lnTo>
                  <a:pt x="3925270" y="710970"/>
                </a:lnTo>
                <a:lnTo>
                  <a:pt x="3969936" y="695455"/>
                </a:lnTo>
                <a:lnTo>
                  <a:pt x="4011732" y="674482"/>
                </a:lnTo>
                <a:lnTo>
                  <a:pt x="4050226" y="648482"/>
                </a:lnTo>
                <a:lnTo>
                  <a:pt x="4084986" y="617886"/>
                </a:lnTo>
                <a:lnTo>
                  <a:pt x="4115582" y="583126"/>
                </a:lnTo>
                <a:lnTo>
                  <a:pt x="4141582" y="544632"/>
                </a:lnTo>
                <a:lnTo>
                  <a:pt x="4162555" y="502836"/>
                </a:lnTo>
                <a:lnTo>
                  <a:pt x="4178070" y="458170"/>
                </a:lnTo>
                <a:lnTo>
                  <a:pt x="4187695" y="411064"/>
                </a:lnTo>
                <a:lnTo>
                  <a:pt x="4191000" y="361950"/>
                </a:lnTo>
                <a:lnTo>
                  <a:pt x="4187695" y="312835"/>
                </a:lnTo>
                <a:lnTo>
                  <a:pt x="4178070" y="265729"/>
                </a:lnTo>
                <a:lnTo>
                  <a:pt x="4162555" y="221063"/>
                </a:lnTo>
                <a:lnTo>
                  <a:pt x="4141582" y="179267"/>
                </a:lnTo>
                <a:lnTo>
                  <a:pt x="4115582" y="140773"/>
                </a:lnTo>
                <a:lnTo>
                  <a:pt x="4084986" y="106013"/>
                </a:lnTo>
                <a:lnTo>
                  <a:pt x="4050226" y="75417"/>
                </a:lnTo>
                <a:lnTo>
                  <a:pt x="4011732" y="49417"/>
                </a:lnTo>
                <a:lnTo>
                  <a:pt x="3969936" y="28444"/>
                </a:lnTo>
                <a:lnTo>
                  <a:pt x="3925270" y="12929"/>
                </a:lnTo>
                <a:lnTo>
                  <a:pt x="3878164" y="3304"/>
                </a:lnTo>
                <a:lnTo>
                  <a:pt x="3829050" y="0"/>
                </a:lnTo>
                <a:close/>
              </a:path>
            </a:pathLst>
          </a:custGeom>
          <a:solidFill>
            <a:srgbClr val="F1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499850" y="1879663"/>
            <a:ext cx="240029" cy="460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50" b="1" spc="-80" dirty="0">
                <a:solidFill>
                  <a:srgbClr val="3C3838"/>
                </a:solidFill>
                <a:latin typeface="Tahoma"/>
                <a:cs typeface="Tahoma"/>
              </a:rPr>
              <a:t>3</a:t>
            </a:r>
            <a:endParaRPr sz="285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827894" y="2779966"/>
            <a:ext cx="3578860" cy="12312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b="1" spc="45" dirty="0">
                <a:solidFill>
                  <a:srgbClr val="3C3838"/>
                </a:solidFill>
                <a:latin typeface="Tahoma"/>
                <a:cs typeface="Tahoma"/>
              </a:rPr>
              <a:t>Kutilayotgan</a:t>
            </a:r>
            <a:r>
              <a:rPr sz="2150" b="1" spc="-30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2150" b="1" spc="40" dirty="0">
                <a:solidFill>
                  <a:srgbClr val="3C3838"/>
                </a:solidFill>
                <a:latin typeface="Tahoma"/>
                <a:cs typeface="Tahoma"/>
              </a:rPr>
              <a:t>Rentabellik</a:t>
            </a:r>
            <a:endParaRPr sz="2150">
              <a:latin typeface="Tahoma"/>
              <a:cs typeface="Tahoma"/>
            </a:endParaRPr>
          </a:p>
          <a:p>
            <a:pPr marL="12700" marR="708025">
              <a:lnSpc>
                <a:spcPct val="132000"/>
              </a:lnSpc>
              <a:spcBef>
                <a:spcPts val="1019"/>
              </a:spcBef>
            </a:pPr>
            <a:r>
              <a:rPr sz="1850" spc="-35" dirty="0">
                <a:solidFill>
                  <a:srgbClr val="3C3838"/>
                </a:solidFill>
                <a:latin typeface="Tahoma"/>
                <a:cs typeface="Tahoma"/>
              </a:rPr>
              <a:t>Investitsiyadan</a:t>
            </a:r>
            <a:r>
              <a:rPr sz="1850" spc="-40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spc="-10" dirty="0">
                <a:solidFill>
                  <a:srgbClr val="3C3838"/>
                </a:solidFill>
                <a:latin typeface="Tahoma"/>
                <a:cs typeface="Tahoma"/>
              </a:rPr>
              <a:t>kutilayotgan daromad.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47725" y="4791075"/>
            <a:ext cx="4191000" cy="733425"/>
          </a:xfrm>
          <a:custGeom>
            <a:avLst/>
            <a:gdLst/>
            <a:ahLst/>
            <a:cxnLst/>
            <a:rect l="l" t="t" r="r" b="b"/>
            <a:pathLst>
              <a:path w="4191000" h="733425">
                <a:moveTo>
                  <a:pt x="3824351" y="0"/>
                </a:moveTo>
                <a:lnTo>
                  <a:pt x="366712" y="0"/>
                </a:lnTo>
                <a:lnTo>
                  <a:pt x="320713" y="2857"/>
                </a:lnTo>
                <a:lnTo>
                  <a:pt x="276419" y="11201"/>
                </a:lnTo>
                <a:lnTo>
                  <a:pt x="234173" y="24686"/>
                </a:lnTo>
                <a:lnTo>
                  <a:pt x="194320" y="42969"/>
                </a:lnTo>
                <a:lnTo>
                  <a:pt x="157202" y="65706"/>
                </a:lnTo>
                <a:lnTo>
                  <a:pt x="123165" y="92553"/>
                </a:lnTo>
                <a:lnTo>
                  <a:pt x="92550" y="123165"/>
                </a:lnTo>
                <a:lnTo>
                  <a:pt x="65703" y="157199"/>
                </a:lnTo>
                <a:lnTo>
                  <a:pt x="42966" y="194310"/>
                </a:lnTo>
                <a:lnTo>
                  <a:pt x="24684" y="234155"/>
                </a:lnTo>
                <a:lnTo>
                  <a:pt x="11199" y="276389"/>
                </a:lnTo>
                <a:lnTo>
                  <a:pt x="2857" y="320668"/>
                </a:lnTo>
                <a:lnTo>
                  <a:pt x="0" y="366649"/>
                </a:lnTo>
                <a:lnTo>
                  <a:pt x="2857" y="412656"/>
                </a:lnTo>
                <a:lnTo>
                  <a:pt x="11199" y="456958"/>
                </a:lnTo>
                <a:lnTo>
                  <a:pt x="24684" y="499212"/>
                </a:lnTo>
                <a:lnTo>
                  <a:pt x="42966" y="539072"/>
                </a:lnTo>
                <a:lnTo>
                  <a:pt x="65703" y="576196"/>
                </a:lnTo>
                <a:lnTo>
                  <a:pt x="92550" y="610239"/>
                </a:lnTo>
                <a:lnTo>
                  <a:pt x="123165" y="640859"/>
                </a:lnTo>
                <a:lnTo>
                  <a:pt x="157202" y="667711"/>
                </a:lnTo>
                <a:lnTo>
                  <a:pt x="194320" y="690451"/>
                </a:lnTo>
                <a:lnTo>
                  <a:pt x="234173" y="708736"/>
                </a:lnTo>
                <a:lnTo>
                  <a:pt x="276419" y="722223"/>
                </a:lnTo>
                <a:lnTo>
                  <a:pt x="320713" y="730567"/>
                </a:lnTo>
                <a:lnTo>
                  <a:pt x="366712" y="733425"/>
                </a:lnTo>
                <a:lnTo>
                  <a:pt x="3824351" y="733425"/>
                </a:lnTo>
                <a:lnTo>
                  <a:pt x="3870331" y="730567"/>
                </a:lnTo>
                <a:lnTo>
                  <a:pt x="3914610" y="722223"/>
                </a:lnTo>
                <a:lnTo>
                  <a:pt x="3956844" y="708736"/>
                </a:lnTo>
                <a:lnTo>
                  <a:pt x="3996689" y="690451"/>
                </a:lnTo>
                <a:lnTo>
                  <a:pt x="4033800" y="667711"/>
                </a:lnTo>
                <a:lnTo>
                  <a:pt x="4067834" y="640859"/>
                </a:lnTo>
                <a:lnTo>
                  <a:pt x="4098446" y="610239"/>
                </a:lnTo>
                <a:lnTo>
                  <a:pt x="4125293" y="576196"/>
                </a:lnTo>
                <a:lnTo>
                  <a:pt x="4148030" y="539072"/>
                </a:lnTo>
                <a:lnTo>
                  <a:pt x="4166313" y="499212"/>
                </a:lnTo>
                <a:lnTo>
                  <a:pt x="4179798" y="456958"/>
                </a:lnTo>
                <a:lnTo>
                  <a:pt x="4188142" y="412656"/>
                </a:lnTo>
                <a:lnTo>
                  <a:pt x="4191000" y="366649"/>
                </a:lnTo>
                <a:lnTo>
                  <a:pt x="4188142" y="320668"/>
                </a:lnTo>
                <a:lnTo>
                  <a:pt x="4179798" y="276389"/>
                </a:lnTo>
                <a:lnTo>
                  <a:pt x="4166313" y="234155"/>
                </a:lnTo>
                <a:lnTo>
                  <a:pt x="4148030" y="194310"/>
                </a:lnTo>
                <a:lnTo>
                  <a:pt x="4125293" y="157199"/>
                </a:lnTo>
                <a:lnTo>
                  <a:pt x="4098446" y="123165"/>
                </a:lnTo>
                <a:lnTo>
                  <a:pt x="4067834" y="92553"/>
                </a:lnTo>
                <a:lnTo>
                  <a:pt x="4033800" y="65706"/>
                </a:lnTo>
                <a:lnTo>
                  <a:pt x="3996689" y="42969"/>
                </a:lnTo>
                <a:lnTo>
                  <a:pt x="3956844" y="24686"/>
                </a:lnTo>
                <a:lnTo>
                  <a:pt x="3914610" y="11201"/>
                </a:lnTo>
                <a:lnTo>
                  <a:pt x="3870331" y="2857"/>
                </a:lnTo>
                <a:lnTo>
                  <a:pt x="3824351" y="0"/>
                </a:lnTo>
                <a:close/>
              </a:path>
            </a:pathLst>
          </a:custGeom>
          <a:solidFill>
            <a:srgbClr val="F1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750566" y="4836414"/>
            <a:ext cx="275590" cy="4610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50" b="1" spc="95" dirty="0">
                <a:solidFill>
                  <a:srgbClr val="3C3838"/>
                </a:solidFill>
                <a:latin typeface="Tahoma"/>
                <a:cs typeface="Tahoma"/>
              </a:rPr>
              <a:t>4</a:t>
            </a:r>
            <a:endParaRPr sz="285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78547" y="5737542"/>
            <a:ext cx="3469004" cy="12306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b="1" dirty="0">
                <a:solidFill>
                  <a:srgbClr val="3C3838"/>
                </a:solidFill>
                <a:latin typeface="Tahoma"/>
                <a:cs typeface="Tahoma"/>
              </a:rPr>
              <a:t>O‘zini</a:t>
            </a:r>
            <a:r>
              <a:rPr sz="2150" b="1" spc="135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2150" b="1" spc="65" dirty="0">
                <a:solidFill>
                  <a:srgbClr val="3C3838"/>
                </a:solidFill>
                <a:latin typeface="Tahoma"/>
                <a:cs typeface="Tahoma"/>
              </a:rPr>
              <a:t>Oqlash</a:t>
            </a:r>
            <a:r>
              <a:rPr sz="2150" b="1" spc="105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2150" b="1" spc="40" dirty="0">
                <a:solidFill>
                  <a:srgbClr val="3C3838"/>
                </a:solidFill>
                <a:latin typeface="Tahoma"/>
                <a:cs typeface="Tahoma"/>
              </a:rPr>
              <a:t>Nuqtasi</a:t>
            </a:r>
            <a:endParaRPr sz="21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730"/>
              </a:spcBef>
            </a:pPr>
            <a:r>
              <a:rPr sz="1850" spc="-40" dirty="0">
                <a:solidFill>
                  <a:srgbClr val="3C3838"/>
                </a:solidFill>
                <a:latin typeface="Tahoma"/>
                <a:cs typeface="Tahoma"/>
              </a:rPr>
              <a:t>Investitsiyaning</a:t>
            </a:r>
            <a:r>
              <a:rPr sz="1850" spc="-75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spc="-20" dirty="0">
                <a:solidFill>
                  <a:srgbClr val="3C3838"/>
                </a:solidFill>
                <a:latin typeface="Tahoma"/>
                <a:cs typeface="Tahoma"/>
              </a:rPr>
              <a:t>qancha</a:t>
            </a:r>
            <a:r>
              <a:rPr sz="1850" spc="-165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spc="-10" dirty="0">
                <a:solidFill>
                  <a:srgbClr val="3C3838"/>
                </a:solidFill>
                <a:latin typeface="Tahoma"/>
                <a:cs typeface="Tahoma"/>
              </a:rPr>
              <a:t>vaqtda</a:t>
            </a:r>
            <a:endParaRPr sz="18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1850" dirty="0">
                <a:solidFill>
                  <a:srgbClr val="3C3838"/>
                </a:solidFill>
                <a:latin typeface="Tahoma"/>
                <a:cs typeface="Tahoma"/>
              </a:rPr>
              <a:t>o‘zini</a:t>
            </a:r>
            <a:r>
              <a:rPr sz="1850" spc="-110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dirty="0">
                <a:solidFill>
                  <a:srgbClr val="3C3838"/>
                </a:solidFill>
                <a:latin typeface="Tahoma"/>
                <a:cs typeface="Tahoma"/>
              </a:rPr>
              <a:t>qoplashi</a:t>
            </a:r>
            <a:r>
              <a:rPr sz="1850" spc="-110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spc="-55" dirty="0">
                <a:solidFill>
                  <a:srgbClr val="3C3838"/>
                </a:solidFill>
                <a:latin typeface="Tahoma"/>
                <a:cs typeface="Tahoma"/>
              </a:rPr>
              <a:t>(Break-</a:t>
            </a:r>
            <a:r>
              <a:rPr sz="1850" spc="-40" dirty="0">
                <a:solidFill>
                  <a:srgbClr val="3C3838"/>
                </a:solidFill>
                <a:latin typeface="Tahoma"/>
                <a:cs typeface="Tahoma"/>
              </a:rPr>
              <a:t>even</a:t>
            </a:r>
            <a:r>
              <a:rPr sz="1850" spc="-60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spc="-10" dirty="0">
                <a:solidFill>
                  <a:srgbClr val="3C3838"/>
                </a:solidFill>
                <a:latin typeface="Tahoma"/>
                <a:cs typeface="Tahoma"/>
              </a:rPr>
              <a:t>point).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219700" y="4791075"/>
            <a:ext cx="4191000" cy="733425"/>
          </a:xfrm>
          <a:custGeom>
            <a:avLst/>
            <a:gdLst/>
            <a:ahLst/>
            <a:cxnLst/>
            <a:rect l="l" t="t" r="r" b="b"/>
            <a:pathLst>
              <a:path w="4191000" h="733425">
                <a:moveTo>
                  <a:pt x="3824351" y="0"/>
                </a:moveTo>
                <a:lnTo>
                  <a:pt x="366775" y="0"/>
                </a:lnTo>
                <a:lnTo>
                  <a:pt x="320768" y="2857"/>
                </a:lnTo>
                <a:lnTo>
                  <a:pt x="276466" y="11201"/>
                </a:lnTo>
                <a:lnTo>
                  <a:pt x="234212" y="24686"/>
                </a:lnTo>
                <a:lnTo>
                  <a:pt x="194352" y="42969"/>
                </a:lnTo>
                <a:lnTo>
                  <a:pt x="157228" y="65706"/>
                </a:lnTo>
                <a:lnTo>
                  <a:pt x="123185" y="92553"/>
                </a:lnTo>
                <a:lnTo>
                  <a:pt x="92565" y="123165"/>
                </a:lnTo>
                <a:lnTo>
                  <a:pt x="65713" y="157199"/>
                </a:lnTo>
                <a:lnTo>
                  <a:pt x="42973" y="194310"/>
                </a:lnTo>
                <a:lnTo>
                  <a:pt x="24688" y="234155"/>
                </a:lnTo>
                <a:lnTo>
                  <a:pt x="11201" y="276389"/>
                </a:lnTo>
                <a:lnTo>
                  <a:pt x="2857" y="320668"/>
                </a:lnTo>
                <a:lnTo>
                  <a:pt x="0" y="366649"/>
                </a:lnTo>
                <a:lnTo>
                  <a:pt x="2857" y="412656"/>
                </a:lnTo>
                <a:lnTo>
                  <a:pt x="11201" y="456958"/>
                </a:lnTo>
                <a:lnTo>
                  <a:pt x="24688" y="499212"/>
                </a:lnTo>
                <a:lnTo>
                  <a:pt x="42973" y="539072"/>
                </a:lnTo>
                <a:lnTo>
                  <a:pt x="65713" y="576196"/>
                </a:lnTo>
                <a:lnTo>
                  <a:pt x="92565" y="610239"/>
                </a:lnTo>
                <a:lnTo>
                  <a:pt x="123185" y="640859"/>
                </a:lnTo>
                <a:lnTo>
                  <a:pt x="157228" y="667711"/>
                </a:lnTo>
                <a:lnTo>
                  <a:pt x="194352" y="690451"/>
                </a:lnTo>
                <a:lnTo>
                  <a:pt x="234212" y="708736"/>
                </a:lnTo>
                <a:lnTo>
                  <a:pt x="276466" y="722223"/>
                </a:lnTo>
                <a:lnTo>
                  <a:pt x="320768" y="730567"/>
                </a:lnTo>
                <a:lnTo>
                  <a:pt x="366775" y="733425"/>
                </a:lnTo>
                <a:lnTo>
                  <a:pt x="3824351" y="733425"/>
                </a:lnTo>
                <a:lnTo>
                  <a:pt x="3870331" y="730567"/>
                </a:lnTo>
                <a:lnTo>
                  <a:pt x="3914610" y="722223"/>
                </a:lnTo>
                <a:lnTo>
                  <a:pt x="3956844" y="708736"/>
                </a:lnTo>
                <a:lnTo>
                  <a:pt x="3996689" y="690451"/>
                </a:lnTo>
                <a:lnTo>
                  <a:pt x="4033800" y="667711"/>
                </a:lnTo>
                <a:lnTo>
                  <a:pt x="4067834" y="640859"/>
                </a:lnTo>
                <a:lnTo>
                  <a:pt x="4098446" y="610239"/>
                </a:lnTo>
                <a:lnTo>
                  <a:pt x="4125293" y="576196"/>
                </a:lnTo>
                <a:lnTo>
                  <a:pt x="4148030" y="539072"/>
                </a:lnTo>
                <a:lnTo>
                  <a:pt x="4166313" y="499212"/>
                </a:lnTo>
                <a:lnTo>
                  <a:pt x="4179798" y="456958"/>
                </a:lnTo>
                <a:lnTo>
                  <a:pt x="4188142" y="412656"/>
                </a:lnTo>
                <a:lnTo>
                  <a:pt x="4191000" y="366649"/>
                </a:lnTo>
                <a:lnTo>
                  <a:pt x="4188142" y="320668"/>
                </a:lnTo>
                <a:lnTo>
                  <a:pt x="4179798" y="276389"/>
                </a:lnTo>
                <a:lnTo>
                  <a:pt x="4166313" y="234155"/>
                </a:lnTo>
                <a:lnTo>
                  <a:pt x="4148030" y="194310"/>
                </a:lnTo>
                <a:lnTo>
                  <a:pt x="4125293" y="157199"/>
                </a:lnTo>
                <a:lnTo>
                  <a:pt x="4098446" y="123165"/>
                </a:lnTo>
                <a:lnTo>
                  <a:pt x="4067834" y="92553"/>
                </a:lnTo>
                <a:lnTo>
                  <a:pt x="4033800" y="65706"/>
                </a:lnTo>
                <a:lnTo>
                  <a:pt x="3996689" y="42969"/>
                </a:lnTo>
                <a:lnTo>
                  <a:pt x="3956844" y="24686"/>
                </a:lnTo>
                <a:lnTo>
                  <a:pt x="3914610" y="11201"/>
                </a:lnTo>
                <a:lnTo>
                  <a:pt x="3870331" y="2857"/>
                </a:lnTo>
                <a:lnTo>
                  <a:pt x="3824351" y="0"/>
                </a:lnTo>
                <a:close/>
              </a:path>
            </a:pathLst>
          </a:custGeom>
          <a:solidFill>
            <a:srgbClr val="F1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125334" y="4836414"/>
            <a:ext cx="241300" cy="4610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50" b="1" spc="-70" dirty="0">
                <a:solidFill>
                  <a:srgbClr val="3C3838"/>
                </a:solidFill>
                <a:latin typeface="Tahoma"/>
                <a:cs typeface="Tahoma"/>
              </a:rPr>
              <a:t>5</a:t>
            </a:r>
            <a:endParaRPr sz="285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453126" y="5737542"/>
            <a:ext cx="3122295" cy="1203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4800"/>
              </a:lnSpc>
            </a:pPr>
            <a:r>
              <a:rPr sz="2150" b="1" spc="65" dirty="0">
                <a:solidFill>
                  <a:srgbClr val="3C3838"/>
                </a:solidFill>
                <a:latin typeface="Tahoma"/>
                <a:cs typeface="Tahoma"/>
              </a:rPr>
              <a:t>Kompaniya</a:t>
            </a:r>
            <a:r>
              <a:rPr sz="2150" b="1" spc="-5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2150" b="1" spc="45" dirty="0">
                <a:solidFill>
                  <a:srgbClr val="3C3838"/>
                </a:solidFill>
                <a:latin typeface="Tahoma"/>
                <a:cs typeface="Tahoma"/>
              </a:rPr>
              <a:t>Qiymatini </a:t>
            </a:r>
            <a:r>
              <a:rPr sz="2150" b="1" spc="60" dirty="0">
                <a:solidFill>
                  <a:srgbClr val="3C3838"/>
                </a:solidFill>
                <a:latin typeface="Tahoma"/>
                <a:cs typeface="Tahoma"/>
              </a:rPr>
              <a:t>Baholash</a:t>
            </a:r>
            <a:endParaRPr sz="21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739"/>
              </a:spcBef>
            </a:pPr>
            <a:r>
              <a:rPr sz="1850" spc="-10" dirty="0">
                <a:solidFill>
                  <a:srgbClr val="3C3838"/>
                </a:solidFill>
                <a:latin typeface="Tahoma"/>
                <a:cs typeface="Tahoma"/>
              </a:rPr>
              <a:t>Kompaniyaning</a:t>
            </a:r>
            <a:r>
              <a:rPr sz="1850" spc="-120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spc="-20" dirty="0">
                <a:solidFill>
                  <a:srgbClr val="3C3838"/>
                </a:solidFill>
                <a:latin typeface="Tahoma"/>
                <a:cs typeface="Tahoma"/>
              </a:rPr>
              <a:t>joriy</a:t>
            </a:r>
            <a:r>
              <a:rPr sz="1850" spc="-210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spc="-10" dirty="0">
                <a:solidFill>
                  <a:srgbClr val="3C3838"/>
                </a:solidFill>
                <a:latin typeface="Tahoma"/>
                <a:cs typeface="Tahoma"/>
              </a:rPr>
              <a:t>bahosi.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591675" y="4791075"/>
            <a:ext cx="4191000" cy="733425"/>
          </a:xfrm>
          <a:custGeom>
            <a:avLst/>
            <a:gdLst/>
            <a:ahLst/>
            <a:cxnLst/>
            <a:rect l="l" t="t" r="r" b="b"/>
            <a:pathLst>
              <a:path w="4191000" h="733425">
                <a:moveTo>
                  <a:pt x="3824351" y="0"/>
                </a:moveTo>
                <a:lnTo>
                  <a:pt x="366775" y="0"/>
                </a:lnTo>
                <a:lnTo>
                  <a:pt x="320768" y="2857"/>
                </a:lnTo>
                <a:lnTo>
                  <a:pt x="276466" y="11201"/>
                </a:lnTo>
                <a:lnTo>
                  <a:pt x="234212" y="24686"/>
                </a:lnTo>
                <a:lnTo>
                  <a:pt x="194352" y="42969"/>
                </a:lnTo>
                <a:lnTo>
                  <a:pt x="157228" y="65706"/>
                </a:lnTo>
                <a:lnTo>
                  <a:pt x="123185" y="92553"/>
                </a:lnTo>
                <a:lnTo>
                  <a:pt x="92565" y="123165"/>
                </a:lnTo>
                <a:lnTo>
                  <a:pt x="65713" y="157199"/>
                </a:lnTo>
                <a:lnTo>
                  <a:pt x="42973" y="194310"/>
                </a:lnTo>
                <a:lnTo>
                  <a:pt x="24688" y="234155"/>
                </a:lnTo>
                <a:lnTo>
                  <a:pt x="11201" y="276389"/>
                </a:lnTo>
                <a:lnTo>
                  <a:pt x="2857" y="320668"/>
                </a:lnTo>
                <a:lnTo>
                  <a:pt x="0" y="366649"/>
                </a:lnTo>
                <a:lnTo>
                  <a:pt x="2857" y="412656"/>
                </a:lnTo>
                <a:lnTo>
                  <a:pt x="11201" y="456958"/>
                </a:lnTo>
                <a:lnTo>
                  <a:pt x="24688" y="499212"/>
                </a:lnTo>
                <a:lnTo>
                  <a:pt x="42973" y="539072"/>
                </a:lnTo>
                <a:lnTo>
                  <a:pt x="65713" y="576196"/>
                </a:lnTo>
                <a:lnTo>
                  <a:pt x="92565" y="610239"/>
                </a:lnTo>
                <a:lnTo>
                  <a:pt x="123185" y="640859"/>
                </a:lnTo>
                <a:lnTo>
                  <a:pt x="157228" y="667711"/>
                </a:lnTo>
                <a:lnTo>
                  <a:pt x="194352" y="690451"/>
                </a:lnTo>
                <a:lnTo>
                  <a:pt x="234212" y="708736"/>
                </a:lnTo>
                <a:lnTo>
                  <a:pt x="276466" y="722223"/>
                </a:lnTo>
                <a:lnTo>
                  <a:pt x="320768" y="730567"/>
                </a:lnTo>
                <a:lnTo>
                  <a:pt x="366775" y="733425"/>
                </a:lnTo>
                <a:lnTo>
                  <a:pt x="3824351" y="733425"/>
                </a:lnTo>
                <a:lnTo>
                  <a:pt x="3870331" y="730567"/>
                </a:lnTo>
                <a:lnTo>
                  <a:pt x="3914610" y="722223"/>
                </a:lnTo>
                <a:lnTo>
                  <a:pt x="3956844" y="708736"/>
                </a:lnTo>
                <a:lnTo>
                  <a:pt x="3996689" y="690451"/>
                </a:lnTo>
                <a:lnTo>
                  <a:pt x="4033800" y="667711"/>
                </a:lnTo>
                <a:lnTo>
                  <a:pt x="4067834" y="640859"/>
                </a:lnTo>
                <a:lnTo>
                  <a:pt x="4098446" y="610239"/>
                </a:lnTo>
                <a:lnTo>
                  <a:pt x="4125293" y="576196"/>
                </a:lnTo>
                <a:lnTo>
                  <a:pt x="4148030" y="539072"/>
                </a:lnTo>
                <a:lnTo>
                  <a:pt x="4166313" y="499212"/>
                </a:lnTo>
                <a:lnTo>
                  <a:pt x="4179798" y="456958"/>
                </a:lnTo>
                <a:lnTo>
                  <a:pt x="4188142" y="412656"/>
                </a:lnTo>
                <a:lnTo>
                  <a:pt x="4191000" y="366649"/>
                </a:lnTo>
                <a:lnTo>
                  <a:pt x="4188142" y="320668"/>
                </a:lnTo>
                <a:lnTo>
                  <a:pt x="4179798" y="276389"/>
                </a:lnTo>
                <a:lnTo>
                  <a:pt x="4166313" y="234155"/>
                </a:lnTo>
                <a:lnTo>
                  <a:pt x="4148030" y="194310"/>
                </a:lnTo>
                <a:lnTo>
                  <a:pt x="4125293" y="157199"/>
                </a:lnTo>
                <a:lnTo>
                  <a:pt x="4098446" y="123165"/>
                </a:lnTo>
                <a:lnTo>
                  <a:pt x="4067834" y="92553"/>
                </a:lnTo>
                <a:lnTo>
                  <a:pt x="4033800" y="65706"/>
                </a:lnTo>
                <a:lnTo>
                  <a:pt x="3996689" y="42969"/>
                </a:lnTo>
                <a:lnTo>
                  <a:pt x="3956844" y="24686"/>
                </a:lnTo>
                <a:lnTo>
                  <a:pt x="3914610" y="11201"/>
                </a:lnTo>
                <a:lnTo>
                  <a:pt x="3870331" y="2857"/>
                </a:lnTo>
                <a:lnTo>
                  <a:pt x="3824351" y="0"/>
                </a:lnTo>
                <a:close/>
              </a:path>
            </a:pathLst>
          </a:custGeom>
          <a:solidFill>
            <a:srgbClr val="F1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499850" y="4836414"/>
            <a:ext cx="256540" cy="4610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50" b="1" spc="-50" dirty="0">
                <a:solidFill>
                  <a:srgbClr val="3C3838"/>
                </a:solidFill>
                <a:latin typeface="Tahoma"/>
                <a:cs typeface="Tahoma"/>
              </a:rPr>
              <a:t>6</a:t>
            </a:r>
            <a:endParaRPr sz="285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827894" y="5737542"/>
            <a:ext cx="3532504" cy="157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358775">
              <a:lnSpc>
                <a:spcPct val="104800"/>
              </a:lnSpc>
            </a:pPr>
            <a:r>
              <a:rPr sz="2150" b="1" spc="70" dirty="0">
                <a:solidFill>
                  <a:srgbClr val="3C3838"/>
                </a:solidFill>
                <a:latin typeface="Tahoma"/>
                <a:cs typeface="Tahoma"/>
              </a:rPr>
              <a:t>Kompaniyadagi</a:t>
            </a:r>
            <a:r>
              <a:rPr sz="2150" b="1" spc="-5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2150" b="1" spc="40" dirty="0">
                <a:solidFill>
                  <a:srgbClr val="3C3838"/>
                </a:solidFill>
                <a:latin typeface="Tahoma"/>
                <a:cs typeface="Tahoma"/>
              </a:rPr>
              <a:t>Ulush </a:t>
            </a:r>
            <a:r>
              <a:rPr sz="2150" b="1" spc="-10" dirty="0">
                <a:solidFill>
                  <a:srgbClr val="3C3838"/>
                </a:solidFill>
                <a:latin typeface="Tahoma"/>
                <a:cs typeface="Tahoma"/>
              </a:rPr>
              <a:t>Foizi</a:t>
            </a:r>
            <a:endParaRPr sz="2150">
              <a:latin typeface="Tahoma"/>
              <a:cs typeface="Tahoma"/>
            </a:endParaRPr>
          </a:p>
          <a:p>
            <a:pPr marL="12700" marR="5080">
              <a:lnSpc>
                <a:spcPct val="131800"/>
              </a:lnSpc>
              <a:spcBef>
                <a:spcPts val="1035"/>
              </a:spcBef>
            </a:pPr>
            <a:r>
              <a:rPr sz="1850" spc="-60" dirty="0">
                <a:solidFill>
                  <a:srgbClr val="3C3838"/>
                </a:solidFill>
                <a:latin typeface="Tahoma"/>
                <a:cs typeface="Tahoma"/>
              </a:rPr>
              <a:t>Investorga</a:t>
            </a:r>
            <a:r>
              <a:rPr sz="1850" spc="-225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dirty="0">
                <a:solidFill>
                  <a:srgbClr val="3C3838"/>
                </a:solidFill>
                <a:latin typeface="Tahoma"/>
                <a:cs typeface="Tahoma"/>
              </a:rPr>
              <a:t>taklif</a:t>
            </a:r>
            <a:r>
              <a:rPr sz="1850" spc="-125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spc="-10" dirty="0">
                <a:solidFill>
                  <a:srgbClr val="3C3838"/>
                </a:solidFill>
                <a:latin typeface="Tahoma"/>
                <a:cs typeface="Tahoma"/>
              </a:rPr>
              <a:t>qilinayotgan</a:t>
            </a:r>
            <a:r>
              <a:rPr sz="1850" spc="-150" dirty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sz="1850" spc="-10" dirty="0">
                <a:solidFill>
                  <a:srgbClr val="3C3838"/>
                </a:solidFill>
                <a:latin typeface="Tahoma"/>
                <a:cs typeface="Tahoma"/>
              </a:rPr>
              <a:t>ulush foizi.</a:t>
            </a:r>
            <a:endParaRPr sz="18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1143000"/>
            <a:ext cx="10667365" cy="1397635"/>
          </a:xfrm>
          <a:prstGeom prst="rect">
            <a:avLst/>
          </a:prstGeom>
        </p:spPr>
        <p:txBody>
          <a:bodyPr vert="horz" wrap="square" lIns="0" tIns="69443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pc="165" dirty="0" smtClean="0"/>
              <a:t>Thank you</a:t>
            </a:r>
            <a:endParaRPr spc="80" dirty="0"/>
          </a:p>
        </p:txBody>
      </p:sp>
      <p:sp>
        <p:nvSpPr>
          <p:cNvPr id="3" name="object 3"/>
          <p:cNvSpPr txBox="1"/>
          <p:nvPr/>
        </p:nvSpPr>
        <p:spPr>
          <a:xfrm>
            <a:off x="838199" y="3093402"/>
            <a:ext cx="7987666" cy="339644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appreciate your time and interest in our vision. Let's connect.</a:t>
            </a: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2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Get in Touch</a:t>
            </a: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endParaRPr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55600" indent="-342900">
              <a:lnSpc>
                <a:spcPct val="100000"/>
              </a:lnSpc>
              <a:buFont typeface="Tahoma"/>
              <a:buChar char="•"/>
              <a:tabLst>
                <a:tab pos="355600" algn="l"/>
              </a:tabLst>
            </a:pPr>
            <a:r>
              <a:rPr lang="en-US" sz="1850" b="1" spc="-10" dirty="0" smtClean="0">
                <a:solidFill>
                  <a:srgbClr val="3C3838"/>
                </a:solidFill>
                <a:latin typeface="Tahoma"/>
                <a:cs typeface="Tahoma"/>
              </a:rPr>
              <a:t>Phone</a:t>
            </a:r>
            <a:r>
              <a:rPr sz="1850" b="1" spc="-10" dirty="0" smtClean="0">
                <a:solidFill>
                  <a:srgbClr val="3C3838"/>
                </a:solidFill>
                <a:latin typeface="Tahoma"/>
                <a:cs typeface="Tahoma"/>
              </a:rPr>
              <a:t>:</a:t>
            </a:r>
            <a:r>
              <a:rPr lang="en-US" sz="1850" b="1" spc="-10" dirty="0" smtClean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lang="en-US" sz="1850" spc="-10" dirty="0" smtClean="0">
                <a:solidFill>
                  <a:srgbClr val="3C3838"/>
                </a:solidFill>
                <a:latin typeface="Tahoma"/>
                <a:cs typeface="Tahoma"/>
              </a:rPr>
              <a:t>+998 90 582 84 86</a:t>
            </a:r>
            <a:endParaRPr sz="1850" dirty="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1380"/>
              </a:spcBef>
              <a:buFont typeface="Tahoma"/>
              <a:buChar char="•"/>
              <a:tabLst>
                <a:tab pos="355600" algn="l"/>
              </a:tabLst>
            </a:pPr>
            <a:r>
              <a:rPr lang="en-US" sz="1850" b="1" spc="-10" dirty="0" smtClean="0">
                <a:solidFill>
                  <a:srgbClr val="3C3838"/>
                </a:solidFill>
                <a:latin typeface="Tahoma"/>
                <a:cs typeface="Tahoma"/>
              </a:rPr>
              <a:t>Email</a:t>
            </a:r>
            <a:r>
              <a:rPr sz="1850" b="1" spc="-10" dirty="0" smtClean="0">
                <a:solidFill>
                  <a:srgbClr val="3C3838"/>
                </a:solidFill>
                <a:latin typeface="Tahoma"/>
                <a:cs typeface="Tahoma"/>
              </a:rPr>
              <a:t>:</a:t>
            </a:r>
            <a:r>
              <a:rPr lang="en-US" sz="1850" b="1" spc="-10" dirty="0" smtClean="0">
                <a:solidFill>
                  <a:srgbClr val="3C3838"/>
                </a:solidFill>
                <a:latin typeface="Tahoma"/>
                <a:cs typeface="Tahoma"/>
              </a:rPr>
              <a:t> </a:t>
            </a:r>
            <a:r>
              <a:rPr lang="en-US" sz="1850" spc="-10" dirty="0" smtClean="0">
                <a:solidFill>
                  <a:srgbClr val="3C3838"/>
                </a:solidFill>
                <a:latin typeface="Tahoma"/>
                <a:cs typeface="Tahoma"/>
              </a:rPr>
              <a:t>d.umaraliyev@newuu.uz</a:t>
            </a:r>
            <a:endParaRPr sz="1850" dirty="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1375"/>
              </a:spcBef>
              <a:buFont typeface="Tahoma"/>
              <a:buChar char="•"/>
              <a:tabLst>
                <a:tab pos="355600" algn="l"/>
              </a:tabLst>
            </a:pPr>
            <a:r>
              <a:rPr sz="1850" b="1" spc="-10" dirty="0" err="1">
                <a:solidFill>
                  <a:srgbClr val="3C3838"/>
                </a:solidFill>
                <a:latin typeface="Tahoma"/>
                <a:cs typeface="Tahoma"/>
              </a:rPr>
              <a:t>Boshqalar</a:t>
            </a:r>
            <a:r>
              <a:rPr sz="1850" b="1" spc="-10" dirty="0" smtClean="0">
                <a:solidFill>
                  <a:srgbClr val="3C3838"/>
                </a:solidFill>
                <a:latin typeface="Tahoma"/>
                <a:cs typeface="Tahoma"/>
              </a:rPr>
              <a:t>:</a:t>
            </a:r>
            <a:r>
              <a:rPr lang="en-US" sz="1850" b="1" spc="-10" dirty="0" smtClean="0">
                <a:solidFill>
                  <a:srgbClr val="3C3838"/>
                </a:solidFill>
                <a:latin typeface="Tahoma"/>
                <a:cs typeface="Tahoma"/>
              </a:rPr>
              <a:t> </a:t>
            </a:r>
          </a:p>
          <a:p>
            <a:pPr marL="12700">
              <a:lnSpc>
                <a:spcPct val="100000"/>
              </a:lnSpc>
              <a:spcBef>
                <a:spcPts val="1375"/>
              </a:spcBef>
              <a:tabLst>
                <a:tab pos="355600" algn="l"/>
              </a:tabLst>
            </a:pPr>
            <a:r>
              <a:rPr lang="en-US" sz="1850" b="1" spc="-10" dirty="0" smtClean="0">
                <a:solidFill>
                  <a:srgbClr val="3C3838"/>
                </a:solidFill>
                <a:latin typeface="Tahoma"/>
                <a:cs typeface="Tahoma"/>
              </a:rPr>
              <a:t>		</a:t>
            </a:r>
            <a:r>
              <a:rPr lang="en-US" sz="1850" spc="-10" dirty="0" smtClean="0">
                <a:solidFill>
                  <a:srgbClr val="3C3838"/>
                </a:solidFill>
                <a:latin typeface="Tahoma"/>
                <a:cs typeface="Tahoma"/>
              </a:rPr>
              <a:t>@umaraliyev0101</a:t>
            </a:r>
          </a:p>
          <a:p>
            <a:pPr marL="12700">
              <a:lnSpc>
                <a:spcPct val="100000"/>
              </a:lnSpc>
              <a:spcBef>
                <a:spcPts val="1375"/>
              </a:spcBef>
              <a:tabLst>
                <a:tab pos="355600" algn="l"/>
              </a:tabLst>
            </a:pPr>
            <a:r>
              <a:rPr lang="en-US" sz="1850" spc="-10" dirty="0">
                <a:solidFill>
                  <a:srgbClr val="3C3838"/>
                </a:solidFill>
                <a:latin typeface="Tahoma"/>
                <a:cs typeface="Tahoma"/>
              </a:rPr>
              <a:t>	</a:t>
            </a:r>
            <a:r>
              <a:rPr lang="en-US" sz="1850" spc="-10" dirty="0" smtClean="0">
                <a:solidFill>
                  <a:srgbClr val="3C3838"/>
                </a:solidFill>
                <a:latin typeface="Tahoma"/>
                <a:cs typeface="Tahoma"/>
              </a:rPr>
              <a:t>	@umaraliyev0101</a:t>
            </a:r>
            <a:endParaRPr sz="1850" dirty="0">
              <a:latin typeface="Tahoma"/>
              <a:cs typeface="Tahoma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5638800"/>
            <a:ext cx="304495" cy="30449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599" y="6096000"/>
            <a:ext cx="304495" cy="3044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</TotalTime>
  <Words>378</Words>
  <Application>Microsoft Office PowerPoint</Application>
  <PresentationFormat>Произвольный</PresentationFormat>
  <Paragraphs>101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Calibri</vt:lpstr>
      <vt:lpstr>Tahoma</vt:lpstr>
      <vt:lpstr>Office Theme</vt:lpstr>
      <vt:lpstr>PITCHDECK</vt:lpstr>
      <vt:lpstr>Brief Description </vt:lpstr>
      <vt:lpstr>Parental Control</vt:lpstr>
      <vt:lpstr>Narrow Market Analysis</vt:lpstr>
      <vt:lpstr>Primary users</vt:lpstr>
      <vt:lpstr>Competitive Advantages</vt:lpstr>
      <vt:lpstr>Business Model and Monetization</vt:lpstr>
      <vt:lpstr>Project Roadmap</vt:lpstr>
      <vt:lpstr>Moliyaviy Ko‘rsatkichlar</vt:lpstr>
      <vt:lpstr>Team</vt:lpstr>
      <vt:lpstr>Offer to Investors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PITCHDECK</dc:title>
  <cp:lastModifiedBy>Diyorbek Umaraliyev</cp:lastModifiedBy>
  <cp:revision>6</cp:revision>
  <dcterms:created xsi:type="dcterms:W3CDTF">2025-11-05T21:17:37Z</dcterms:created>
  <dcterms:modified xsi:type="dcterms:W3CDTF">2025-11-05T22:44:26Z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2025-07-10T00:00:00Z</vt:filetime>
  </property>
  <property fmtid="{D5CDD505-2E9C-101B-9397-08002B2CF9AE}" pid="3" name="LastSaved">
    <vt:filetime>2025-11-05T00:00:00Z</vt:filetime>
  </property>
</Properties>
</file>